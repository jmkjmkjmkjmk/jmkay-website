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Three markets built one working apparatus, and every number here was measured today.</a:t>
            </a:r>
          </a:p>
          <a:p/>
          <a:p>
            <a:r>
              <a:t>Open on the four numbers, left to right. They are the funnel; the rest of the deck unfolds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Every market is an evidence base with its uncertainty on the surface.</a:t>
            </a:r>
          </a:p>
          <a:p/>
          <a:p>
            <a:r>
              <a:t>Point at the bars. The grey is the honest part: what was said and has not yet been proven.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Three markets have received the same families of document, in the same order.</a:t>
            </a:r>
          </a:p>
          <a:p/>
          <a:p>
            <a:r>
              <a:t>This is the slide that answers 'what have we actually given them'. Let it sit.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The evidence rungs are complete; what remains is the client-facing top of the ladder.</a:t>
            </a:r>
          </a:p>
          <a:p/>
          <a:p>
            <a:r>
              <a:t>Top rung is done; the bottom rung is what the client receives at the end. Read it downward.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What reaches the client is a small, traceable fraction of what was said, on purpose.</a:t>
            </a:r>
          </a:p>
          <a:p/>
          <a:p>
            <a:r>
              <a:t>Walk the four blocks. The drop from turns to claims is the discipline; the drop from claims to cleared is the clearance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Production and delivery are dated to the day; nothing here is aspirational.</a:t>
            </a:r>
          </a:p>
          <a:p/>
          <a:p>
            <a:r>
              <a:t>Two production windows, then the delivery gates in a row. Point at the gap between them: that is where the finals get 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The deliverables move; the method does not, by any clause either side has signed.</a:t>
            </a:r>
          </a:p>
          <a:p/>
          <a:p>
            <a:r>
              <a:t>Do not sell this slide. Show it, name the middle row, and say the description is coming.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374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A8BC80"/>
                </a:solidFill>
                <a:latin typeface="Calibri"/>
              </a:rPr>
              <a:t>GROUNDWORK  ·  HOW IT ALL FITS  ·  9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48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5400" b="0" i="0">
                <a:solidFill>
                  <a:srgbClr val="FFFFFF"/>
                </a:solidFill>
                <a:latin typeface="Cambria"/>
              </a:rPr>
              <a:t>Three markets, one apparatus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46120"/>
            <a:ext cx="926588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C6D2CB"/>
                </a:solidFill>
                <a:latin typeface="Calibri"/>
              </a:rPr>
              <a:t>What has been delivered and how firmly it stands, what each market has received, how a recording becomes something a client can rely on, what is ahead and dated, and who owns which part.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09160"/>
            <a:ext cx="24764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 i="0">
                <a:solidFill>
                  <a:srgbClr val="A8BC80"/>
                </a:solidFill>
                <a:latin typeface="Calibr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57800"/>
            <a:ext cx="24764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C6D2CB"/>
                </a:solidFill>
                <a:latin typeface="Calibri"/>
              </a:rPr>
              <a:t>recorded conversations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36612" y="4709160"/>
            <a:ext cx="24764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 i="0">
                <a:solidFill>
                  <a:srgbClr val="A8BC80"/>
                </a:solidFill>
                <a:latin typeface="Calibri"/>
              </a:rPr>
              <a:t>5,011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6612" y="5257800"/>
            <a:ext cx="24764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C6D2CB"/>
                </a:solidFill>
                <a:latin typeface="Calibri"/>
              </a:rPr>
              <a:t>quotable turns on the 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984" y="4709160"/>
            <a:ext cx="24764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 i="0">
                <a:solidFill>
                  <a:srgbClr val="A8BC80"/>
                </a:solidFill>
                <a:latin typeface="Calibri"/>
              </a:rPr>
              <a:t>390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984" y="5257800"/>
            <a:ext cx="24764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C6D2CB"/>
                </a:solidFill>
                <a:latin typeface="Calibri"/>
              </a:rPr>
              <a:t>claims with a verdict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5357" y="4709160"/>
            <a:ext cx="24764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 i="0">
                <a:solidFill>
                  <a:srgbClr val="A8BC80"/>
                </a:solidFill>
                <a:latin typeface="Calibri"/>
              </a:rPr>
              <a:t>236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5357" y="5257800"/>
            <a:ext cx="24764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C6D2CB"/>
                </a:solidFill>
                <a:latin typeface="Calibri"/>
              </a:rPr>
              <a:t>quotes on a client surface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12647"/>
            <a:ext cx="106374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7E9455"/>
                </a:solidFill>
                <a:latin typeface="Calibri"/>
              </a:rPr>
              <a:t>01  ·  WHAT THREE MARKETS 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180289" cy="1089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E2A27"/>
                </a:solidFill>
                <a:latin typeface="Cambria"/>
              </a:rPr>
              <a:t>Three markets, and how firmly each one stands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2186432"/>
            <a:ext cx="10637489" cy="0"/>
          </a:xfrm>
          <a:prstGeom prst="line">
            <a:avLst/>
          </a:prstGeom>
          <a:ln w="9525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2296160"/>
            <a:ext cx="3393429" cy="3246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0752"/>
            <a:ext cx="29362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1E2A27"/>
                </a:solidFill>
                <a:latin typeface="Cambria"/>
              </a:rPr>
              <a:t>Pryor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63088"/>
            <a:ext cx="293622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>
                <a:solidFill>
                  <a:srgbClr val="7E9455"/>
                </a:solidFill>
                <a:latin typeface="Calibri"/>
              </a:rPr>
              <a:t>138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39744"/>
            <a:ext cx="29362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9443F"/>
                </a:solidFill>
                <a:latin typeface="Calibri"/>
              </a:rPr>
              <a:t>claims on the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923792"/>
            <a:ext cx="2936229" cy="310896"/>
          </a:xfrm>
          <a:prstGeom prst="roundRect">
            <a:avLst>
              <a:gd name="adj" fmla="val 25000"/>
            </a:avLst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3923792"/>
            <a:ext cx="553202" cy="310896"/>
          </a:xfrm>
          <a:prstGeom prst="rect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23792"/>
            <a:ext cx="55320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9042" y="3923792"/>
            <a:ext cx="638310" cy="310896"/>
          </a:xfrm>
          <a:prstGeom prst="rect">
            <a:avLst/>
          </a:prstGeom>
          <a:solidFill>
            <a:srgbClr val="B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9042" y="3923792"/>
            <a:ext cx="63831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7353" y="3923792"/>
            <a:ext cx="106385" cy="310896"/>
          </a:xfrm>
          <a:prstGeom prst="rect">
            <a:avLst/>
          </a:prstGeom>
          <a:solidFill>
            <a:srgbClr val="2A3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03738" y="3923792"/>
            <a:ext cx="1638331" cy="310896"/>
          </a:xfrm>
          <a:prstGeom prst="rect">
            <a:avLst/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03738" y="3923792"/>
            <a:ext cx="163833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39443F"/>
                </a:solidFill>
                <a:latin typeface="Calibri"/>
              </a:rPr>
              <a:t>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4450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1E2A27"/>
                </a:solidFill>
                <a:latin typeface="Calibr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4463287"/>
            <a:ext cx="22961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9443F"/>
                </a:solidFill>
                <a:latin typeface="Calibri"/>
              </a:rPr>
              <a:t>recorded conversations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290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1E2A27"/>
                </a:solidFill>
                <a:latin typeface="Calibri"/>
              </a:rPr>
              <a:t>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19" y="4847335"/>
            <a:ext cx="22961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9443F"/>
                </a:solidFill>
                <a:latin typeface="Calibri"/>
              </a:rPr>
              <a:t>documents received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99269" y="2296160"/>
            <a:ext cx="3393429" cy="3246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7869" y="2460752"/>
            <a:ext cx="29362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1E2A27"/>
                </a:solidFill>
                <a:latin typeface="Cambria"/>
              </a:rPr>
              <a:t>Council Bluffs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7869" y="2863088"/>
            <a:ext cx="293622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>
                <a:solidFill>
                  <a:srgbClr val="7E9455"/>
                </a:solidFill>
                <a:latin typeface="Calibri"/>
              </a:rPr>
              <a:t>113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7869" y="3539744"/>
            <a:ext cx="29362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9443F"/>
                </a:solidFill>
                <a:latin typeface="Calibri"/>
              </a:rPr>
              <a:t>claims on the register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27869" y="3923792"/>
            <a:ext cx="2936229" cy="310896"/>
          </a:xfrm>
          <a:prstGeom prst="roundRect">
            <a:avLst>
              <a:gd name="adj" fmla="val 25000"/>
            </a:avLst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27869" y="3923792"/>
            <a:ext cx="545671" cy="310896"/>
          </a:xfrm>
          <a:prstGeom prst="rect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7869" y="3923792"/>
            <a:ext cx="54567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73540" y="3923792"/>
            <a:ext cx="493702" cy="310896"/>
          </a:xfrm>
          <a:prstGeom prst="rect">
            <a:avLst/>
          </a:prstGeom>
          <a:solidFill>
            <a:srgbClr val="B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73540" y="3923792"/>
            <a:ext cx="49370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7243" y="3923792"/>
            <a:ext cx="181890" cy="310896"/>
          </a:xfrm>
          <a:prstGeom prst="rect">
            <a:avLst/>
          </a:prstGeom>
          <a:solidFill>
            <a:srgbClr val="2A3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49133" y="3923792"/>
            <a:ext cx="1714966" cy="310896"/>
          </a:xfrm>
          <a:prstGeom prst="rect">
            <a:avLst/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49133" y="3923792"/>
            <a:ext cx="171496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39443F"/>
                </a:solidFill>
                <a:latin typeface="Calibri"/>
              </a:rPr>
              <a:t>66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7869" y="44450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1E2A27"/>
                </a:solidFill>
                <a:latin typeface="Calibri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7949" y="4463287"/>
            <a:ext cx="22961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9443F"/>
                </a:solidFill>
                <a:latin typeface="Calibri"/>
              </a:rPr>
              <a:t>recorded conversations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7869" y="48290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1E2A27"/>
                </a:solidFill>
                <a:latin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67949" y="4847335"/>
            <a:ext cx="22961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9443F"/>
                </a:solidFill>
                <a:latin typeface="Calibri"/>
              </a:rPr>
              <a:t>documents received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21299" y="2296160"/>
            <a:ext cx="3393429" cy="3246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49899" y="2460752"/>
            <a:ext cx="29362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1E2A27"/>
                </a:solidFill>
                <a:latin typeface="Cambria"/>
              </a:rPr>
              <a:t>Hamina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9899" y="2863088"/>
            <a:ext cx="293622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>
                <a:solidFill>
                  <a:srgbClr val="7E9455"/>
                </a:solidFill>
                <a:latin typeface="Calibri"/>
              </a:rPr>
              <a:t>105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9899" y="3539744"/>
            <a:ext cx="29362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9443F"/>
                </a:solidFill>
                <a:latin typeface="Calibri"/>
              </a:rPr>
              <a:t>claims on the register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49899" y="3923792"/>
            <a:ext cx="2936229" cy="310896"/>
          </a:xfrm>
          <a:prstGeom prst="roundRect">
            <a:avLst>
              <a:gd name="adj" fmla="val 25000"/>
            </a:avLst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49899" y="3923792"/>
            <a:ext cx="447425" cy="310896"/>
          </a:xfrm>
          <a:prstGeom prst="rect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49899" y="3923792"/>
            <a:ext cx="44742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97325" y="3923792"/>
            <a:ext cx="335569" cy="310896"/>
          </a:xfrm>
          <a:prstGeom prst="rect">
            <a:avLst/>
          </a:prstGeom>
          <a:solidFill>
            <a:srgbClr val="B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97325" y="3923792"/>
            <a:ext cx="33556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32894" y="3923792"/>
            <a:ext cx="83892" cy="310896"/>
          </a:xfrm>
          <a:prstGeom prst="rect">
            <a:avLst/>
          </a:prstGeom>
          <a:solidFill>
            <a:srgbClr val="2A3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16786" y="3923792"/>
            <a:ext cx="2069342" cy="310896"/>
          </a:xfrm>
          <a:prstGeom prst="rect">
            <a:avLst/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16786" y="3923792"/>
            <a:ext cx="206934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 i="0">
                <a:solidFill>
                  <a:srgbClr val="39443F"/>
                </a:solidFill>
                <a:latin typeface="Calibri"/>
              </a:rPr>
              <a:t>74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49899" y="44450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1E2A27"/>
                </a:solidFill>
                <a:latin typeface="Calibri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9979" y="4463287"/>
            <a:ext cx="22961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9443F"/>
                </a:solidFill>
                <a:latin typeface="Calibri"/>
              </a:rPr>
              <a:t>recorded conversations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49899" y="48290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1E2A27"/>
                </a:solidFill>
                <a:latin typeface="Calibri"/>
              </a:rPr>
              <a:t>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89979" y="4847335"/>
            <a:ext cx="22961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9443F"/>
                </a:solidFill>
                <a:latin typeface="Calibri"/>
              </a:rPr>
              <a:t>documents received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7240" y="5761736"/>
            <a:ext cx="146304" cy="109728"/>
          </a:xfrm>
          <a:prstGeom prst="roundRect">
            <a:avLst>
              <a:gd name="adj" fmla="val 30000"/>
            </a:avLst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8408" y="568858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39443F"/>
                </a:solidFill>
                <a:latin typeface="Calibri"/>
              </a:rPr>
              <a:t>supported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833372" y="5761736"/>
            <a:ext cx="146304" cy="109728"/>
          </a:xfrm>
          <a:prstGeom prst="roundRect">
            <a:avLst>
              <a:gd name="adj" fmla="val 30000"/>
            </a:avLst>
          </a:prstGeom>
          <a:solidFill>
            <a:srgbClr val="B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34540" y="568858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39443F"/>
                </a:solidFill>
                <a:latin typeface="Calibri"/>
              </a:rPr>
              <a:t>contested or misframed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62172" y="5761736"/>
            <a:ext cx="146304" cy="109728"/>
          </a:xfrm>
          <a:prstGeom prst="roundRect">
            <a:avLst>
              <a:gd name="adj" fmla="val 30000"/>
            </a:avLst>
          </a:prstGeom>
          <a:solidFill>
            <a:srgbClr val="2A3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63339" y="568858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39443F"/>
                </a:solidFill>
                <a:latin typeface="Calibri"/>
              </a:rPr>
              <a:t>the client's own figure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550408" y="5761736"/>
            <a:ext cx="146304" cy="109728"/>
          </a:xfrm>
          <a:prstGeom prst="roundRect">
            <a:avLst>
              <a:gd name="adj" fmla="val 30000"/>
            </a:avLst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51576" y="568858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39443F"/>
                </a:solidFill>
                <a:latin typeface="Calibri"/>
              </a:rPr>
              <a:t>unverified, held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" y="6291072"/>
            <a:ext cx="1063748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7873"/>
                </a:solidFill>
                <a:latin typeface="Calibri"/>
              </a:rPr>
              <a:t>Verdicts from the Claims Register; conversations from the corpus; documents from the delivered set  ·  measured at build, 9 September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12647"/>
            <a:ext cx="106374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7E9455"/>
                </a:solidFill>
                <a:latin typeface="Calibri"/>
              </a:rPr>
              <a:t>02  ·  WHAT EACH MARKET HAS RECEIVED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180289" cy="544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E2A27"/>
                </a:solidFill>
                <a:latin typeface="Cambria"/>
              </a:rPr>
              <a:t>What has actually reached each market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641856"/>
            <a:ext cx="10637489" cy="0"/>
          </a:xfrm>
          <a:prstGeom prst="line">
            <a:avLst/>
          </a:prstGeom>
          <a:ln w="9525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794759" y="1751584"/>
            <a:ext cx="253998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1E2A27"/>
                </a:solidFill>
                <a:latin typeface="Calibri"/>
              </a:rPr>
              <a:t>PRYOR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59" y="1989328"/>
            <a:ext cx="253998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 i="0">
                <a:solidFill>
                  <a:srgbClr val="6B7873"/>
                </a:solidFill>
                <a:latin typeface="Calibri"/>
              </a:rPr>
              <a:t>22 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749" y="1751584"/>
            <a:ext cx="253998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1E2A27"/>
                </a:solidFill>
                <a:latin typeface="Calibri"/>
              </a:rPr>
              <a:t>COUNCIL BLUFFS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4749" y="1989328"/>
            <a:ext cx="253998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 i="0">
                <a:solidFill>
                  <a:srgbClr val="6B7873"/>
                </a:solidFill>
                <a:latin typeface="Calibri"/>
              </a:rPr>
              <a:t>8 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74739" y="1751584"/>
            <a:ext cx="253998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1E2A27"/>
                </a:solidFill>
                <a:latin typeface="Calibri"/>
              </a:rPr>
              <a:t>HAMINA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74739" y="1989328"/>
            <a:ext cx="253998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 i="0">
                <a:solidFill>
                  <a:srgbClr val="6B7873"/>
                </a:solidFill>
                <a:latin typeface="Calibri"/>
              </a:rPr>
              <a:t>15 documents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355088"/>
            <a:ext cx="10637489" cy="329184"/>
          </a:xfrm>
          <a:prstGeom prst="rect">
            <a:avLst/>
          </a:prstGeom>
          <a:solidFill>
            <a:srgbClr val="F1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55088"/>
            <a:ext cx="2880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1614"/>
                </a:solidFill>
                <a:latin typeface="Calibri"/>
              </a:rPr>
              <a:t>Market Impact Assessment</a:t>
            </a:r>
          </a:p>
        </p:txBody>
      </p:sp>
      <p:sp>
        <p:nvSpPr>
          <p:cNvPr id="14" name="Oval 13"/>
          <p:cNvSpPr/>
          <p:nvPr/>
        </p:nvSpPr>
        <p:spPr>
          <a:xfrm>
            <a:off x="4964170" y="2419096"/>
            <a:ext cx="201168" cy="201168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04160" y="2419096"/>
            <a:ext cx="201168" cy="201168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44150" y="2419096"/>
            <a:ext cx="201168" cy="201168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684272"/>
            <a:ext cx="2880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1614"/>
                </a:solidFill>
                <a:latin typeface="Calibri"/>
              </a:rPr>
              <a:t>Citation Index</a:t>
            </a:r>
          </a:p>
        </p:txBody>
      </p:sp>
      <p:sp>
        <p:nvSpPr>
          <p:cNvPr id="18" name="Oval 17"/>
          <p:cNvSpPr/>
          <p:nvPr/>
        </p:nvSpPr>
        <p:spPr>
          <a:xfrm>
            <a:off x="4964170" y="2748280"/>
            <a:ext cx="201168" cy="201168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04160" y="2748280"/>
            <a:ext cx="201168" cy="201168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44150" y="2748280"/>
            <a:ext cx="201168" cy="201168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013456"/>
            <a:ext cx="10637489" cy="329184"/>
          </a:xfrm>
          <a:prstGeom prst="rect">
            <a:avLst/>
          </a:prstGeom>
          <a:solidFill>
            <a:srgbClr val="F1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013456"/>
            <a:ext cx="2880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1614"/>
                </a:solidFill>
                <a:latin typeface="Calibri"/>
              </a:rPr>
              <a:t>Proof Points Addendum</a:t>
            </a:r>
          </a:p>
        </p:txBody>
      </p:sp>
      <p:sp>
        <p:nvSpPr>
          <p:cNvPr id="23" name="Oval 22"/>
          <p:cNvSpPr/>
          <p:nvPr/>
        </p:nvSpPr>
        <p:spPr>
          <a:xfrm>
            <a:off x="4964170" y="3077464"/>
            <a:ext cx="201168" cy="201168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04160" y="3077464"/>
            <a:ext cx="201168" cy="201168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44150" y="3077464"/>
            <a:ext cx="201168" cy="201168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342640"/>
            <a:ext cx="2880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1614"/>
                </a:solidFill>
                <a:latin typeface="Calibri"/>
              </a:rPr>
              <a:t>Story Spine</a:t>
            </a:r>
          </a:p>
        </p:txBody>
      </p:sp>
      <p:sp>
        <p:nvSpPr>
          <p:cNvPr id="27" name="Oval 26"/>
          <p:cNvSpPr/>
          <p:nvPr/>
        </p:nvSpPr>
        <p:spPr>
          <a:xfrm>
            <a:off x="4964170" y="3406648"/>
            <a:ext cx="201168" cy="201168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04160" y="3406648"/>
            <a:ext cx="201168" cy="201168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44150" y="3406648"/>
            <a:ext cx="201168" cy="201168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3671824"/>
            <a:ext cx="10637489" cy="329184"/>
          </a:xfrm>
          <a:prstGeom prst="rect">
            <a:avLst/>
          </a:prstGeom>
          <a:solidFill>
            <a:srgbClr val="F1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3671824"/>
            <a:ext cx="2880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1614"/>
                </a:solidFill>
                <a:latin typeface="Calibri"/>
              </a:rPr>
              <a:t>Interview overviews and notes</a:t>
            </a:r>
          </a:p>
        </p:txBody>
      </p:sp>
      <p:sp>
        <p:nvSpPr>
          <p:cNvPr id="32" name="Oval 31"/>
          <p:cNvSpPr/>
          <p:nvPr/>
        </p:nvSpPr>
        <p:spPr>
          <a:xfrm>
            <a:off x="4936738" y="3708400"/>
            <a:ext cx="256032" cy="25603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6738" y="370840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34" name="Oval 33"/>
          <p:cNvSpPr/>
          <p:nvPr/>
        </p:nvSpPr>
        <p:spPr>
          <a:xfrm>
            <a:off x="7476728" y="3708400"/>
            <a:ext cx="256032" cy="25603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6728" y="370840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6" name="Oval 35"/>
          <p:cNvSpPr/>
          <p:nvPr/>
        </p:nvSpPr>
        <p:spPr>
          <a:xfrm>
            <a:off x="10089870" y="3781552"/>
            <a:ext cx="109728" cy="109728"/>
          </a:xfrm>
          <a:prstGeom prst="ellipse">
            <a:avLst/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001008"/>
            <a:ext cx="2880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1614"/>
                </a:solidFill>
                <a:latin typeface="Calibri"/>
              </a:rPr>
              <a:t>Interview guide and questions</a:t>
            </a:r>
          </a:p>
        </p:txBody>
      </p:sp>
      <p:sp>
        <p:nvSpPr>
          <p:cNvPr id="38" name="Oval 37"/>
          <p:cNvSpPr/>
          <p:nvPr/>
        </p:nvSpPr>
        <p:spPr>
          <a:xfrm>
            <a:off x="4936738" y="4037584"/>
            <a:ext cx="256032" cy="25603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6738" y="40375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0" name="Oval 39"/>
          <p:cNvSpPr/>
          <p:nvPr/>
        </p:nvSpPr>
        <p:spPr>
          <a:xfrm>
            <a:off x="7549880" y="4110736"/>
            <a:ext cx="109728" cy="109728"/>
          </a:xfrm>
          <a:prstGeom prst="ellipse">
            <a:avLst/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089870" y="4110736"/>
            <a:ext cx="109728" cy="109728"/>
          </a:xfrm>
          <a:prstGeom prst="ellipse">
            <a:avLst/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330192"/>
            <a:ext cx="10637489" cy="329184"/>
          </a:xfrm>
          <a:prstGeom prst="rect">
            <a:avLst/>
          </a:prstGeom>
          <a:solidFill>
            <a:srgbClr val="F1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4330192"/>
            <a:ext cx="2880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1614"/>
                </a:solidFill>
                <a:latin typeface="Calibri"/>
              </a:rPr>
              <a:t>Producer brief / timeline</a:t>
            </a:r>
          </a:p>
        </p:txBody>
      </p:sp>
      <p:sp>
        <p:nvSpPr>
          <p:cNvPr id="44" name="Oval 43"/>
          <p:cNvSpPr/>
          <p:nvPr/>
        </p:nvSpPr>
        <p:spPr>
          <a:xfrm>
            <a:off x="5009890" y="4439920"/>
            <a:ext cx="109728" cy="109728"/>
          </a:xfrm>
          <a:prstGeom prst="ellipse">
            <a:avLst/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549880" y="4439920"/>
            <a:ext cx="109728" cy="109728"/>
          </a:xfrm>
          <a:prstGeom prst="ellipse">
            <a:avLst/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016718" y="4366768"/>
            <a:ext cx="256032" cy="25603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16718" y="436676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659376"/>
            <a:ext cx="2880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1614"/>
                </a:solidFill>
                <a:latin typeface="Calibri"/>
              </a:rPr>
              <a:t>Flagship film review</a:t>
            </a:r>
          </a:p>
        </p:txBody>
      </p:sp>
      <p:sp>
        <p:nvSpPr>
          <p:cNvPr id="49" name="Oval 48"/>
          <p:cNvSpPr/>
          <p:nvPr/>
        </p:nvSpPr>
        <p:spPr>
          <a:xfrm>
            <a:off x="5009890" y="4769104"/>
            <a:ext cx="109728" cy="109728"/>
          </a:xfrm>
          <a:prstGeom prst="ellipse">
            <a:avLst/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549880" y="4769104"/>
            <a:ext cx="109728" cy="109728"/>
          </a:xfrm>
          <a:prstGeom prst="ellipse">
            <a:avLst/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016718" y="4695952"/>
            <a:ext cx="256032" cy="25603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16718" y="46959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" y="4988560"/>
            <a:ext cx="10637489" cy="329184"/>
          </a:xfrm>
          <a:prstGeom prst="rect">
            <a:avLst/>
          </a:prstGeom>
          <a:solidFill>
            <a:srgbClr val="F1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4988560"/>
            <a:ext cx="2880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1614"/>
                </a:solidFill>
                <a:latin typeface="Calibri"/>
              </a:rPr>
              <a:t>Opportunities for future research</a:t>
            </a:r>
          </a:p>
        </p:txBody>
      </p:sp>
      <p:sp>
        <p:nvSpPr>
          <p:cNvPr id="55" name="Oval 54"/>
          <p:cNvSpPr/>
          <p:nvPr/>
        </p:nvSpPr>
        <p:spPr>
          <a:xfrm>
            <a:off x="4964170" y="5052568"/>
            <a:ext cx="201168" cy="201168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504160" y="5052568"/>
            <a:ext cx="201168" cy="201168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044150" y="5052568"/>
            <a:ext cx="201168" cy="201168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5317744"/>
            <a:ext cx="2880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1614"/>
                </a:solidFill>
                <a:latin typeface="Calibri"/>
              </a:rPr>
              <a:t>Impact report scaffold (internal)</a:t>
            </a:r>
          </a:p>
        </p:txBody>
      </p:sp>
      <p:sp>
        <p:nvSpPr>
          <p:cNvPr id="59" name="Oval 58"/>
          <p:cNvSpPr/>
          <p:nvPr/>
        </p:nvSpPr>
        <p:spPr>
          <a:xfrm>
            <a:off x="4964170" y="5381752"/>
            <a:ext cx="201168" cy="201168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504160" y="5381752"/>
            <a:ext cx="201168" cy="201168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044150" y="5381752"/>
            <a:ext cx="201168" cy="201168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77240" y="5793232"/>
            <a:ext cx="146304" cy="109728"/>
          </a:xfrm>
          <a:prstGeom prst="roundRect">
            <a:avLst>
              <a:gd name="adj" fmla="val 30000"/>
            </a:avLst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8408" y="5720080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39443F"/>
                </a:solidFill>
                <a:latin typeface="Calibri"/>
              </a:rPr>
              <a:t>received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773936" y="5793232"/>
            <a:ext cx="146304" cy="109728"/>
          </a:xfrm>
          <a:prstGeom prst="roundRect">
            <a:avLst>
              <a:gd name="adj" fmla="val 30000"/>
            </a:avLst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75104" y="5720080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39443F"/>
                </a:solidFill>
                <a:latin typeface="Calibri"/>
              </a:rPr>
              <a:t>not yet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" y="6291072"/>
            <a:ext cx="1063748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7873"/>
                </a:solidFill>
                <a:latin typeface="Calibri"/>
              </a:rPr>
              <a:t>Read from the delivered set by filename; a number is a count where a market received more than one  ·  measured at build, 9 September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12647"/>
            <a:ext cx="106374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7E9455"/>
                </a:solidFill>
                <a:latin typeface="Calibri"/>
              </a:rPr>
              <a:t>03  ·  THE LADDER, BY 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180289" cy="1089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E2A27"/>
                </a:solidFill>
                <a:latin typeface="Cambria"/>
              </a:rPr>
              <a:t>Where every deliverable stands, rung by rung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2186432"/>
            <a:ext cx="10637489" cy="0"/>
          </a:xfrm>
          <a:prstGeom prst="line">
            <a:avLst/>
          </a:prstGeom>
          <a:ln w="9525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2296160"/>
            <a:ext cx="106374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7E9455"/>
                </a:solidFill>
                <a:latin typeface="Calibri"/>
              </a:rPr>
              <a:t>RUNG 0   ·   Evidence and Sources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2497328"/>
            <a:ext cx="10637489" cy="0"/>
          </a:xfrm>
          <a:prstGeom prst="line">
            <a:avLst/>
          </a:prstGeom>
          <a:ln w="9525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8680" y="2533904"/>
            <a:ext cx="4893245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1614"/>
                </a:solidFill>
                <a:latin typeface="Calibri"/>
              </a:rPr>
              <a:t>Evidence &amp; Claims Register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70485" y="2584313"/>
            <a:ext cx="3191246" cy="67212"/>
          </a:xfrm>
          <a:prstGeom prst="roundRect">
            <a:avLst>
              <a:gd name="adj" fmla="val 40000"/>
            </a:avLst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70485" y="2584313"/>
            <a:ext cx="2872122" cy="67212"/>
          </a:xfrm>
          <a:prstGeom prst="roundRect">
            <a:avLst>
              <a:gd name="adj" fmla="val 40000"/>
            </a:avLst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3172" y="2533904"/>
            <a:ext cx="548640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7873"/>
                </a:solidFill>
                <a:latin typeface="Calibri"/>
              </a:rP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1812" y="2533904"/>
            <a:ext cx="1912917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continuous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01934"/>
            <a:ext cx="4893245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1614"/>
                </a:solidFill>
                <a:latin typeface="Calibri"/>
              </a:rPr>
              <a:t>Friction registers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70485" y="2752344"/>
            <a:ext cx="3191246" cy="67212"/>
          </a:xfrm>
          <a:prstGeom prst="roundRect">
            <a:avLst>
              <a:gd name="adj" fmla="val 40000"/>
            </a:avLst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70485" y="2752344"/>
            <a:ext cx="2712559" cy="67212"/>
          </a:xfrm>
          <a:prstGeom prst="roundRect">
            <a:avLst>
              <a:gd name="adj" fmla="val 40000"/>
            </a:avLst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3172" y="2701934"/>
            <a:ext cx="548640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7873"/>
                </a:solidFill>
                <a:latin typeface="Calibri"/>
              </a:rPr>
              <a:t>85%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1812" y="2701934"/>
            <a:ext cx="1912917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Aug 7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869965"/>
            <a:ext cx="4893245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1614"/>
                </a:solidFill>
                <a:latin typeface="Calibri"/>
              </a:rPr>
              <a:t>Pillar-Proof Matrix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70485" y="2920374"/>
            <a:ext cx="3191246" cy="67212"/>
          </a:xfrm>
          <a:prstGeom prst="roundRect">
            <a:avLst>
              <a:gd name="adj" fmla="val 40000"/>
            </a:avLst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70485" y="2920374"/>
            <a:ext cx="1914748" cy="67212"/>
          </a:xfrm>
          <a:prstGeom prst="roundRect">
            <a:avLst>
              <a:gd name="adj" fmla="val 40000"/>
            </a:avLst>
          </a:prstGeom>
          <a:solidFill>
            <a:srgbClr val="A8B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3172" y="2869965"/>
            <a:ext cx="548640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7873"/>
                </a:solidFill>
                <a:latin typeface="Calibri"/>
              </a:rPr>
              <a:t>60%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1812" y="2869965"/>
            <a:ext cx="1912917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Aug 11-14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092860"/>
            <a:ext cx="106374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7E9455"/>
                </a:solidFill>
                <a:latin typeface="Calibri"/>
              </a:rPr>
              <a:t>RUNG 1   ·   Story Spines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3294028"/>
            <a:ext cx="10637489" cy="0"/>
          </a:xfrm>
          <a:prstGeom prst="line">
            <a:avLst/>
          </a:prstGeom>
          <a:ln w="9525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8680" y="3330604"/>
            <a:ext cx="4893245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1614"/>
                </a:solidFill>
                <a:latin typeface="Calibri"/>
              </a:rPr>
              <a:t>Story Inventory &amp; Champion Map v0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0485" y="3381013"/>
            <a:ext cx="3191246" cy="67212"/>
          </a:xfrm>
          <a:prstGeom prst="roundRect">
            <a:avLst>
              <a:gd name="adj" fmla="val 40000"/>
            </a:avLst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70485" y="3381013"/>
            <a:ext cx="2233872" cy="67212"/>
          </a:xfrm>
          <a:prstGeom prst="roundRect">
            <a:avLst>
              <a:gd name="adj" fmla="val 40000"/>
            </a:avLst>
          </a:prstGeom>
          <a:solidFill>
            <a:srgbClr val="A8B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53172" y="3330604"/>
            <a:ext cx="548640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7873"/>
                </a:solidFill>
                <a:latin typeface="Calibri"/>
              </a:rPr>
              <a:t>70%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1812" y="3330604"/>
            <a:ext cx="1912917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Aug 7 + rolling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498635"/>
            <a:ext cx="4893245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1614"/>
                </a:solidFill>
                <a:latin typeface="Calibri"/>
              </a:rPr>
              <a:t>8–12 story/champion profiles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0485" y="3549044"/>
            <a:ext cx="3191246" cy="67212"/>
          </a:xfrm>
          <a:prstGeom prst="roundRect">
            <a:avLst>
              <a:gd name="adj" fmla="val 40000"/>
            </a:avLst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70485" y="3549044"/>
            <a:ext cx="159562" cy="67212"/>
          </a:xfrm>
          <a:prstGeom prst="roundRect">
            <a:avLst>
              <a:gd name="adj" fmla="val 40000"/>
            </a:avLst>
          </a:prstGeom>
          <a:solidFill>
            <a:srgbClr val="B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53172" y="3498635"/>
            <a:ext cx="548640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7873"/>
                </a:solidFill>
                <a:latin typeface="Calibri"/>
              </a:rPr>
              <a:t>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1812" y="3498635"/>
            <a:ext cx="1912917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Aug 25 (Ham) / Sept 28…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3721529"/>
            <a:ext cx="106374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7E9455"/>
                </a:solidFill>
                <a:latin typeface="Calibri"/>
              </a:rPr>
              <a:t>RUNG 2   ·   Market reports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7240" y="3922697"/>
            <a:ext cx="10637489" cy="0"/>
          </a:xfrm>
          <a:prstGeom prst="line">
            <a:avLst/>
          </a:prstGeom>
          <a:ln w="9525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68680" y="3959273"/>
            <a:ext cx="4893245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1614"/>
                </a:solidFill>
                <a:latin typeface="Calibri"/>
              </a:rPr>
              <a:t>CB Impact Report (internal v0)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70485" y="4009683"/>
            <a:ext cx="3191246" cy="67212"/>
          </a:xfrm>
          <a:prstGeom prst="roundRect">
            <a:avLst>
              <a:gd name="adj" fmla="val 40000"/>
            </a:avLst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70485" y="4009683"/>
            <a:ext cx="1276498" cy="67212"/>
          </a:xfrm>
          <a:prstGeom prst="roundRect">
            <a:avLst>
              <a:gd name="adj" fmla="val 40000"/>
            </a:avLst>
          </a:prstGeom>
          <a:solidFill>
            <a:srgbClr val="A8B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53172" y="3959273"/>
            <a:ext cx="548640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7873"/>
                </a:solidFill>
                <a:latin typeface="Calibri"/>
              </a:rPr>
              <a:t>40%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1812" y="3959273"/>
            <a:ext cx="1912917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Aug 7 assessment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4127304"/>
            <a:ext cx="4893245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1614"/>
                </a:solidFill>
                <a:latin typeface="Calibri"/>
              </a:rPr>
              <a:t>Hamina Impact Report (internal v0)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70485" y="4177713"/>
            <a:ext cx="3191246" cy="67212"/>
          </a:xfrm>
          <a:prstGeom prst="roundRect">
            <a:avLst>
              <a:gd name="adj" fmla="val 40000"/>
            </a:avLst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670485" y="4177713"/>
            <a:ext cx="1755185" cy="67212"/>
          </a:xfrm>
          <a:prstGeom prst="roundRect">
            <a:avLst>
              <a:gd name="adj" fmla="val 40000"/>
            </a:avLst>
          </a:prstGeom>
          <a:solidFill>
            <a:srgbClr val="A8B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53172" y="4127304"/>
            <a:ext cx="548640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7873"/>
                </a:solidFill>
                <a:latin typeface="Calibri"/>
              </a:rPr>
              <a:t>55%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1812" y="4127304"/>
            <a:ext cx="1912917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Aug 25 v1 / Sept 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4295335"/>
            <a:ext cx="4893245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1614"/>
                </a:solidFill>
                <a:latin typeface="Calibri"/>
              </a:rPr>
              <a:t>Pryor Impact Report (INTERNAL-ONLY v0)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70485" y="4345744"/>
            <a:ext cx="3191246" cy="67212"/>
          </a:xfrm>
          <a:prstGeom prst="roundRect">
            <a:avLst>
              <a:gd name="adj" fmla="val 40000"/>
            </a:avLst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670485" y="4345744"/>
            <a:ext cx="1116936" cy="67212"/>
          </a:xfrm>
          <a:prstGeom prst="roundRect">
            <a:avLst>
              <a:gd name="adj" fmla="val 40000"/>
            </a:avLst>
          </a:prstGeom>
          <a:solidFill>
            <a:srgbClr val="B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53172" y="4295335"/>
            <a:ext cx="548640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7873"/>
                </a:solidFill>
                <a:latin typeface="Calibri"/>
              </a:rPr>
              <a:t>35%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1812" y="4295335"/>
            <a:ext cx="1912917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Aug 7 (findings only)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4518230"/>
            <a:ext cx="106374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7E9455"/>
                </a:solidFill>
                <a:latin typeface="Calibri"/>
              </a:rPr>
              <a:t>RUNG 3   ·   Cross-Market Synthesis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77240" y="4719398"/>
            <a:ext cx="10637489" cy="0"/>
          </a:xfrm>
          <a:prstGeom prst="line">
            <a:avLst/>
          </a:prstGeom>
          <a:ln w="9525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68680" y="4755974"/>
            <a:ext cx="4893245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1614"/>
                </a:solidFill>
                <a:latin typeface="Calibri"/>
              </a:rPr>
              <a:t>Master Synthesis Report (v0 shell)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70485" y="4806383"/>
            <a:ext cx="3191246" cy="67212"/>
          </a:xfrm>
          <a:prstGeom prst="roundRect">
            <a:avLst>
              <a:gd name="adj" fmla="val 40000"/>
            </a:avLst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670485" y="4806383"/>
            <a:ext cx="957374" cy="67212"/>
          </a:xfrm>
          <a:prstGeom prst="roundRect">
            <a:avLst>
              <a:gd name="adj" fmla="val 40000"/>
            </a:avLst>
          </a:prstGeom>
          <a:solidFill>
            <a:srgbClr val="B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53172" y="4755974"/>
            <a:ext cx="548640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7873"/>
                </a:solidFill>
                <a:latin typeface="Calibri"/>
              </a:rPr>
              <a:t>30%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1812" y="4755974"/>
            <a:ext cx="1912917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Aug 11-14 / early Oct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" y="4978868"/>
            <a:ext cx="106374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7E9455"/>
                </a:solidFill>
                <a:latin typeface="Calibri"/>
              </a:rPr>
              <a:t>RUNG 4   ·   What [the client] receives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77240" y="5180036"/>
            <a:ext cx="10637489" cy="0"/>
          </a:xfrm>
          <a:prstGeom prst="line">
            <a:avLst/>
          </a:prstGeom>
          <a:ln w="9525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68680" y="5216612"/>
            <a:ext cx="4893245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1614"/>
                </a:solidFill>
                <a:latin typeface="Calibri"/>
              </a:rPr>
              <a:t>Executive Briefing (Kim)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670485" y="5267022"/>
            <a:ext cx="3191246" cy="67212"/>
          </a:xfrm>
          <a:prstGeom prst="roundRect">
            <a:avLst>
              <a:gd name="adj" fmla="val 40000"/>
            </a:avLst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670485" y="5267022"/>
            <a:ext cx="1276498" cy="67212"/>
          </a:xfrm>
          <a:prstGeom prst="roundRect">
            <a:avLst>
              <a:gd name="adj" fmla="val 40000"/>
            </a:avLst>
          </a:prstGeom>
          <a:solidFill>
            <a:srgbClr val="A8B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53172" y="5216612"/>
            <a:ext cx="548640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7873"/>
                </a:solidFill>
                <a:latin typeface="Calibri"/>
              </a:rPr>
              <a:t>40%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1812" y="5216612"/>
            <a:ext cx="1912917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Aug 7 / early Oct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" y="5384643"/>
            <a:ext cx="4893245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1614"/>
                </a:solidFill>
                <a:latin typeface="Calibri"/>
              </a:rPr>
              <a:t>Storytelling Toolkit (Jules)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670485" y="5435052"/>
            <a:ext cx="3191246" cy="67212"/>
          </a:xfrm>
          <a:prstGeom prst="roundRect">
            <a:avLst>
              <a:gd name="adj" fmla="val 40000"/>
            </a:avLst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5670485" y="5435052"/>
            <a:ext cx="319124" cy="67212"/>
          </a:xfrm>
          <a:prstGeom prst="roundRect">
            <a:avLst>
              <a:gd name="adj" fmla="val 40000"/>
            </a:avLst>
          </a:prstGeom>
          <a:solidFill>
            <a:srgbClr val="B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53172" y="5384643"/>
            <a:ext cx="548640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7873"/>
                </a:solidFill>
                <a:latin typeface="Calibri"/>
              </a:rPr>
              <a:t>10%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01812" y="5384643"/>
            <a:ext cx="1912917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early Oct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" y="5552674"/>
            <a:ext cx="4893245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1614"/>
                </a:solidFill>
                <a:latin typeface="Calibri"/>
              </a:rPr>
              <a:t>Video suite (Juno Collective)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670485" y="5603083"/>
            <a:ext cx="3191246" cy="67212"/>
          </a:xfrm>
          <a:prstGeom prst="roundRect">
            <a:avLst>
              <a:gd name="adj" fmla="val 40000"/>
            </a:avLst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670485" y="5603083"/>
            <a:ext cx="319124" cy="67212"/>
          </a:xfrm>
          <a:prstGeom prst="roundRect">
            <a:avLst>
              <a:gd name="adj" fmla="val 40000"/>
            </a:avLst>
          </a:prstGeom>
          <a:solidFill>
            <a:srgbClr val="B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53172" y="5552674"/>
            <a:ext cx="548640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7873"/>
                </a:solidFill>
                <a:latin typeface="Calibri"/>
              </a:rPr>
              <a:t>10%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01812" y="5552674"/>
            <a:ext cx="1912917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Aug 25 (Ham) / Sept 28…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8680" y="5720705"/>
            <a:ext cx="4893245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1614"/>
                </a:solidFill>
                <a:latin typeface="Calibri"/>
              </a:rPr>
              <a:t>Market Intelligence Playbook / Framework (Phase 4)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670485" y="5771114"/>
            <a:ext cx="3191246" cy="67212"/>
          </a:xfrm>
          <a:prstGeom prst="roundRect">
            <a:avLst>
              <a:gd name="adj" fmla="val 40000"/>
            </a:avLst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670485" y="5771114"/>
            <a:ext cx="1276498" cy="67212"/>
          </a:xfrm>
          <a:prstGeom prst="roundRect">
            <a:avLst>
              <a:gd name="adj" fmla="val 40000"/>
            </a:avLst>
          </a:prstGeom>
          <a:solidFill>
            <a:srgbClr val="A8B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53172" y="5720705"/>
            <a:ext cx="548640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7873"/>
                </a:solidFill>
                <a:latin typeface="Calibri"/>
              </a:rPr>
              <a:t>40%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501812" y="5720705"/>
            <a:ext cx="1912917" cy="168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Sept 9 v1 / Oct final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77240" y="6025896"/>
            <a:ext cx="146304" cy="109728"/>
          </a:xfrm>
          <a:prstGeom prst="roundRect">
            <a:avLst>
              <a:gd name="adj" fmla="val 30000"/>
            </a:avLst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78408" y="595274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39443F"/>
                </a:solidFill>
                <a:latin typeface="Calibri"/>
              </a:rPr>
              <a:t>delivered or close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368296" y="6025896"/>
            <a:ext cx="146304" cy="109728"/>
          </a:xfrm>
          <a:prstGeom prst="roundRect">
            <a:avLst>
              <a:gd name="adj" fmla="val 30000"/>
            </a:avLst>
          </a:prstGeom>
          <a:solidFill>
            <a:srgbClr val="A8B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569464" y="595274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39443F"/>
                </a:solidFill>
                <a:latin typeface="Calibri"/>
              </a:rPr>
              <a:t>in flight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424427" y="6025896"/>
            <a:ext cx="146304" cy="109728"/>
          </a:xfrm>
          <a:prstGeom prst="roundRect">
            <a:avLst>
              <a:gd name="adj" fmla="val 30000"/>
            </a:avLst>
          </a:prstGeom>
          <a:solidFill>
            <a:srgbClr val="B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25596" y="595274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39443F"/>
                </a:solidFill>
                <a:latin typeface="Calibri"/>
              </a:rPr>
              <a:t>just begun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7240" y="6291072"/>
            <a:ext cx="1063748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7873"/>
                </a:solidFill>
                <a:latin typeface="Calibri"/>
              </a:rPr>
              <a:t>13 deliverables on 5 rungs; percent-complete is the project's own figure; folded items hidden  ·  measured at build, 9 September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12647"/>
            <a:ext cx="106374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7E9455"/>
                </a:solidFill>
                <a:latin typeface="Calibri"/>
              </a:rPr>
              <a:t>04  ·  HOW A RECORDING BECOMES A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180289" cy="544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E2A27"/>
                </a:solidFill>
                <a:latin typeface="Cambria"/>
              </a:rPr>
              <a:t>From a conversation to a client surface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641856"/>
            <a:ext cx="10637489" cy="0"/>
          </a:xfrm>
          <a:prstGeom prst="line">
            <a:avLst/>
          </a:prstGeom>
          <a:ln w="9525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2826225"/>
            <a:ext cx="2419342" cy="891318"/>
          </a:xfrm>
          <a:prstGeom prst="roundRect">
            <a:avLst>
              <a:gd name="adj" fmla="val 12000"/>
            </a:avLst>
          </a:prstGeom>
          <a:solidFill>
            <a:srgbClr val="1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871945"/>
            <a:ext cx="21998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329145"/>
            <a:ext cx="21998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C6D2CB"/>
                </a:solidFill>
                <a:latin typeface="Calibri"/>
              </a:rPr>
              <a:t>recorded conversations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08983"/>
            <a:ext cx="2419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7E9455"/>
                </a:solidFill>
                <a:latin typeface="Calibri"/>
              </a:rPr>
              <a:t>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46728"/>
            <a:ext cx="241934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9443F"/>
                </a:solidFill>
                <a:latin typeface="Calibri"/>
              </a:rPr>
              <a:t>transcribed, speakers named by ear, filed under one name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24014" y="3552951"/>
            <a:ext cx="265176" cy="0"/>
          </a:xfrm>
          <a:prstGeom prst="line">
            <a:avLst/>
          </a:prstGeom>
          <a:ln w="22225">
            <a:solidFill>
              <a:srgbClr val="7E94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16622" y="1980184"/>
            <a:ext cx="2419342" cy="1737360"/>
          </a:xfrm>
          <a:prstGeom prst="roundRect">
            <a:avLst>
              <a:gd name="adj" fmla="val 12000"/>
            </a:avLst>
          </a:prstGeom>
          <a:solidFill>
            <a:srgbClr val="2A3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6350" y="2025904"/>
            <a:ext cx="21998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5,011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6350" y="2483104"/>
            <a:ext cx="21998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C6D2CB"/>
                </a:solidFill>
                <a:latin typeface="Calibri"/>
              </a:rPr>
              <a:t>quotable turns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6622" y="3808983"/>
            <a:ext cx="2419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7E9455"/>
                </a:solidFill>
                <a:latin typeface="Calibri"/>
              </a:rPr>
              <a:t>TURNS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6622" y="4046728"/>
            <a:ext cx="241934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9443F"/>
                </a:solidFill>
                <a:latin typeface="Calibri"/>
              </a:rPr>
              <a:t>every turn on the quote register with its speaker and its second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63396" y="3552951"/>
            <a:ext cx="265176" cy="0"/>
          </a:xfrm>
          <a:prstGeom prst="line">
            <a:avLst/>
          </a:prstGeom>
          <a:ln w="22225">
            <a:solidFill>
              <a:srgbClr val="7E94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56004" y="2404549"/>
            <a:ext cx="2419342" cy="1312994"/>
          </a:xfrm>
          <a:prstGeom prst="roundRect">
            <a:avLst>
              <a:gd name="adj" fmla="val 12000"/>
            </a:avLst>
          </a:prstGeom>
          <a:solidFill>
            <a:srgbClr val="1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5732" y="2450269"/>
            <a:ext cx="21998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390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5732" y="2907469"/>
            <a:ext cx="21998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C6D2CB"/>
                </a:solidFill>
                <a:latin typeface="Calibri"/>
              </a:rPr>
              <a:t>claims with a verdict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6004" y="3808983"/>
            <a:ext cx="2419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7E9455"/>
                </a:solidFill>
                <a:latin typeface="Calibri"/>
              </a:rPr>
              <a:t>CLAIMS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6004" y="4046728"/>
            <a:ext cx="241934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9443F"/>
                </a:solidFill>
                <a:latin typeface="Calibri"/>
              </a:rPr>
              <a:t>supported, contested, the client's own, or held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02779" y="3552951"/>
            <a:ext cx="265176" cy="0"/>
          </a:xfrm>
          <a:prstGeom prst="line">
            <a:avLst/>
          </a:prstGeom>
          <a:ln w="22225">
            <a:solidFill>
              <a:srgbClr val="7E94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95387" y="2487836"/>
            <a:ext cx="2419342" cy="1229707"/>
          </a:xfrm>
          <a:prstGeom prst="roundRect">
            <a:avLst>
              <a:gd name="adj" fmla="val 12000"/>
            </a:avLst>
          </a:prstGeom>
          <a:solidFill>
            <a:srgbClr val="2A3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05115" y="2533556"/>
            <a:ext cx="21998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236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5115" y="2990756"/>
            <a:ext cx="21998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C6D2CB"/>
                </a:solidFill>
                <a:latin typeface="Calibri"/>
              </a:rPr>
              <a:t>quotes on a client surface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5387" y="3808983"/>
            <a:ext cx="24193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7E9455"/>
                </a:solidFill>
                <a:latin typeface="Calibri"/>
              </a:rPr>
              <a:t>CLEARED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5387" y="4046728"/>
            <a:ext cx="241934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9443F"/>
                </a:solidFill>
                <a:latin typeface="Calibri"/>
              </a:rPr>
              <a:t>what clearance let through, traced to the tape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769104"/>
            <a:ext cx="106374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E2A27"/>
                </a:solidFill>
                <a:latin typeface="Calibri"/>
              </a:rPr>
              <a:t>The claims, by verdict, across the three markets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080000"/>
            <a:ext cx="10637489" cy="292608"/>
          </a:xfrm>
          <a:prstGeom prst="roundRect">
            <a:avLst>
              <a:gd name="adj" fmla="val 30000"/>
            </a:avLst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5080000"/>
            <a:ext cx="2154773" cy="292608"/>
          </a:xfrm>
          <a:prstGeom prst="rect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080000"/>
            <a:ext cx="215477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79  supported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32013" y="5080000"/>
            <a:ext cx="2045671" cy="292608"/>
          </a:xfrm>
          <a:prstGeom prst="rect">
            <a:avLst/>
          </a:prstGeom>
          <a:solidFill>
            <a:srgbClr val="B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32013" y="5080000"/>
            <a:ext cx="204567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75  contested or misframed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77684" y="5080000"/>
            <a:ext cx="518236" cy="292608"/>
          </a:xfrm>
          <a:prstGeom prst="rect">
            <a:avLst/>
          </a:prstGeom>
          <a:solidFill>
            <a:srgbClr val="2A3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7684" y="5080000"/>
            <a:ext cx="51823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95921" y="5080000"/>
            <a:ext cx="5918808" cy="292608"/>
          </a:xfrm>
          <a:prstGeom prst="rect">
            <a:avLst/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95921" y="5080000"/>
            <a:ext cx="59188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39443F"/>
                </a:solidFill>
                <a:latin typeface="Calibri"/>
              </a:rPr>
              <a:t>217  unverified, held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500624"/>
            <a:ext cx="146304" cy="109728"/>
          </a:xfrm>
          <a:prstGeom prst="roundRect">
            <a:avLst>
              <a:gd name="adj" fmla="val 30000"/>
            </a:avLst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" y="5427472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39443F"/>
                </a:solidFill>
                <a:latin typeface="Calibri"/>
              </a:rPr>
              <a:t>supported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33372" y="5500624"/>
            <a:ext cx="146304" cy="109728"/>
          </a:xfrm>
          <a:prstGeom prst="roundRect">
            <a:avLst>
              <a:gd name="adj" fmla="val 30000"/>
            </a:avLst>
          </a:prstGeom>
          <a:solidFill>
            <a:srgbClr val="B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34540" y="5427472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39443F"/>
                </a:solidFill>
                <a:latin typeface="Calibri"/>
              </a:rPr>
              <a:t>contested or misframed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62172" y="5500624"/>
            <a:ext cx="146304" cy="109728"/>
          </a:xfrm>
          <a:prstGeom prst="roundRect">
            <a:avLst>
              <a:gd name="adj" fmla="val 30000"/>
            </a:avLst>
          </a:prstGeom>
          <a:solidFill>
            <a:srgbClr val="2A3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63339" y="5427472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39443F"/>
                </a:solidFill>
                <a:latin typeface="Calibri"/>
              </a:rPr>
              <a:t>the client's own figure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550408" y="5500624"/>
            <a:ext cx="146304" cy="109728"/>
          </a:xfrm>
          <a:prstGeom prst="roundRect">
            <a:avLst>
              <a:gd name="adj" fmla="val 30000"/>
            </a:avLst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51576" y="5427472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39443F"/>
                </a:solidFill>
                <a:latin typeface="Calibri"/>
              </a:rPr>
              <a:t>unverified, held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6291072"/>
            <a:ext cx="1063748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7873"/>
                </a:solidFill>
                <a:latin typeface="Calibri"/>
              </a:rPr>
              <a:t>Block height is on a log scale so the first and last stage both read; the split is the whole register  ·  measured at build, 9 September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12647"/>
            <a:ext cx="106374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7E9455"/>
                </a:solidFill>
                <a:latin typeface="Calibri"/>
              </a:rPr>
              <a:t>05  ·  WHAT IS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180289" cy="544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E2A27"/>
                </a:solidFill>
                <a:latin typeface="Cambria"/>
              </a:rPr>
              <a:t>The next four weeks, on the calendar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641856"/>
            <a:ext cx="10637489" cy="0"/>
          </a:xfrm>
          <a:prstGeom prst="line">
            <a:avLst/>
          </a:prstGeom>
          <a:ln w="9525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03120" y="1888744"/>
            <a:ext cx="0" cy="3392424"/>
          </a:xfrm>
          <a:prstGeom prst="line">
            <a:avLst/>
          </a:prstGeom>
          <a:ln w="9525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39696" y="188874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week of 7 Sep</a:t>
            </a:r>
          </a:p>
        </p:txBody>
      </p:sp>
      <p:sp>
        <p:nvSpPr>
          <p:cNvPr id="8" name="Rectangle 7"/>
          <p:cNvSpPr/>
          <p:nvPr/>
        </p:nvSpPr>
        <p:spPr>
          <a:xfrm>
            <a:off x="3433349" y="2199640"/>
            <a:ext cx="266045" cy="3081528"/>
          </a:xfrm>
          <a:prstGeom prst="rect">
            <a:avLst/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99395" y="2199640"/>
            <a:ext cx="266045" cy="3081528"/>
          </a:xfrm>
          <a:prstGeom prst="rect">
            <a:avLst/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965441" y="1888744"/>
            <a:ext cx="0" cy="3392424"/>
          </a:xfrm>
          <a:prstGeom prst="line">
            <a:avLst/>
          </a:prstGeom>
          <a:ln w="9525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002017" y="188874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week of 14 Sep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5671" y="2199640"/>
            <a:ext cx="266045" cy="3081528"/>
          </a:xfrm>
          <a:prstGeom prst="rect">
            <a:avLst/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61717" y="2199640"/>
            <a:ext cx="266045" cy="3081528"/>
          </a:xfrm>
          <a:prstGeom prst="rect">
            <a:avLst/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827763" y="1888744"/>
            <a:ext cx="0" cy="3392424"/>
          </a:xfrm>
          <a:prstGeom prst="line">
            <a:avLst/>
          </a:prstGeom>
          <a:ln w="9525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64339" y="188874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week of 21 Sep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7993" y="2199640"/>
            <a:ext cx="266045" cy="3081528"/>
          </a:xfrm>
          <a:prstGeom prst="rect">
            <a:avLst/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24039" y="2199640"/>
            <a:ext cx="266045" cy="3081528"/>
          </a:xfrm>
          <a:prstGeom prst="rect">
            <a:avLst/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690085" y="1888744"/>
            <a:ext cx="0" cy="3392424"/>
          </a:xfrm>
          <a:prstGeom prst="line">
            <a:avLst/>
          </a:prstGeom>
          <a:ln w="9525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26661" y="188874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week of 28 Sep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0315" y="2199640"/>
            <a:ext cx="266045" cy="3081528"/>
          </a:xfrm>
          <a:prstGeom prst="rect">
            <a:avLst/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6361" y="2199640"/>
            <a:ext cx="266045" cy="3081528"/>
          </a:xfrm>
          <a:prstGeom prst="rect">
            <a:avLst/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9552407" y="1888744"/>
            <a:ext cx="0" cy="3392424"/>
          </a:xfrm>
          <a:prstGeom prst="line">
            <a:avLst/>
          </a:prstGeom>
          <a:ln w="9525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588983" y="188874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week of 5 Oct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882637" y="2199640"/>
            <a:ext cx="266045" cy="3081528"/>
          </a:xfrm>
          <a:prstGeom prst="rect">
            <a:avLst/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48683" y="2199640"/>
            <a:ext cx="266045" cy="3081528"/>
          </a:xfrm>
          <a:prstGeom prst="rect">
            <a:avLst/>
          </a:prstGeom>
          <a:solidFill>
            <a:srgbClr val="F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2768234" y="2163064"/>
            <a:ext cx="0" cy="3118104"/>
          </a:xfrm>
          <a:prstGeom prst="line">
            <a:avLst/>
          </a:prstGeom>
          <a:ln w="19050">
            <a:solidFill>
              <a:srgbClr val="B075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311034" y="5299456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B0754A"/>
                </a:solidFill>
                <a:latin typeface="Calibri"/>
              </a:rPr>
              <a:t>today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7240" y="2912871"/>
            <a:ext cx="10637489" cy="0"/>
          </a:xfrm>
          <a:prstGeom prst="line">
            <a:avLst/>
          </a:prstGeom>
          <a:ln w="6350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236423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E2A27"/>
                </a:solidFill>
                <a:latin typeface="Calibri"/>
              </a:rPr>
              <a:t>Pryor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35211" y="2364232"/>
            <a:ext cx="1330229" cy="201168"/>
          </a:xfrm>
          <a:prstGeom prst="roundRect">
            <a:avLst>
              <a:gd name="adj" fmla="val 40000"/>
            </a:avLst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35211" y="258368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9443F"/>
                </a:solidFill>
                <a:latin typeface="Calibri"/>
              </a:rPr>
              <a:t>9 Sep–13 Sep  Pryor PRODUCTION shoot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7240" y="3571239"/>
            <a:ext cx="10637489" cy="0"/>
          </a:xfrm>
          <a:prstGeom prst="line">
            <a:avLst/>
          </a:prstGeom>
          <a:ln w="6350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7240" y="30226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E2A27"/>
                </a:solidFill>
                <a:latin typeface="Calibri"/>
              </a:rPr>
              <a:t>Council Bluffs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3809" y="3022600"/>
            <a:ext cx="1330229" cy="201168"/>
          </a:xfrm>
          <a:prstGeom prst="roundRect">
            <a:avLst>
              <a:gd name="adj" fmla="val 40000"/>
            </a:avLst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3809" y="3242055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9443F"/>
                </a:solidFill>
                <a:latin typeface="Calibri"/>
              </a:rPr>
              <a:t>22 Sep–26 Sep  Council Bluffs PRODUCTION shoo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7240" y="4229608"/>
            <a:ext cx="10637489" cy="0"/>
          </a:xfrm>
          <a:prstGeom prst="line">
            <a:avLst/>
          </a:prstGeom>
          <a:ln w="6350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77240" y="3680967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E2A27"/>
                </a:solidFill>
                <a:latin typeface="Calibri"/>
              </a:rPr>
              <a:t>Hamina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35211" y="3680967"/>
            <a:ext cx="532091" cy="201168"/>
          </a:xfrm>
          <a:prstGeom prst="roundRect">
            <a:avLst>
              <a:gd name="adj" fmla="val 40000"/>
            </a:avLst>
          </a:prstGeom>
          <a:solidFill>
            <a:srgbClr val="B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35211" y="3900424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9443F"/>
                </a:solidFill>
                <a:latin typeface="Calibri"/>
              </a:rPr>
              <a:t>9 Sep–10 Sep  Finland announcement peg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93809" y="3680967"/>
            <a:ext cx="1330229" cy="201168"/>
          </a:xfrm>
          <a:prstGeom prst="roundRect">
            <a:avLst>
              <a:gd name="adj" fmla="val 40000"/>
            </a:avLst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3809" y="3900424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9443F"/>
                </a:solidFill>
                <a:latin typeface="Calibri"/>
              </a:rPr>
              <a:t>22 Sep–26 Sep  Hamina 2nd visit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7240" y="4887976"/>
            <a:ext cx="10637489" cy="0"/>
          </a:xfrm>
          <a:prstGeom prst="line">
            <a:avLst/>
          </a:prstGeom>
          <a:ln w="6350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7240" y="433933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E2A27"/>
                </a:solidFill>
                <a:latin typeface="Calibri"/>
              </a:rPr>
              <a:t>Delivery gates</a:t>
            </a:r>
          </a:p>
        </p:txBody>
      </p:sp>
      <p:sp>
        <p:nvSpPr>
          <p:cNvPr id="44" name="Diamond 43"/>
          <p:cNvSpPr/>
          <p:nvPr/>
        </p:nvSpPr>
        <p:spPr>
          <a:xfrm>
            <a:off x="2616923" y="4321048"/>
            <a:ext cx="201168" cy="201168"/>
          </a:xfrm>
          <a:prstGeom prst="diamond">
            <a:avLst/>
          </a:prstGeom>
          <a:solidFill>
            <a:srgbClr val="1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72955" y="455879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9443F"/>
                </a:solidFill>
                <a:latin typeface="Calibri"/>
              </a:rPr>
              <a:t>9 Sep  Framework v1</a:t>
            </a:r>
          </a:p>
        </p:txBody>
      </p:sp>
      <p:sp>
        <p:nvSpPr>
          <p:cNvPr id="46" name="Diamond 45"/>
          <p:cNvSpPr/>
          <p:nvPr/>
        </p:nvSpPr>
        <p:spPr>
          <a:xfrm>
            <a:off x="6873659" y="4613656"/>
            <a:ext cx="201168" cy="201168"/>
          </a:xfrm>
          <a:prstGeom prst="diamond">
            <a:avLst/>
          </a:prstGeom>
          <a:solidFill>
            <a:srgbClr val="1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29691" y="485140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9443F"/>
                </a:solidFill>
                <a:latin typeface="Calibri"/>
              </a:rPr>
              <a:t>25 Sep  J5</a:t>
            </a:r>
          </a:p>
        </p:txBody>
      </p:sp>
      <p:sp>
        <p:nvSpPr>
          <p:cNvPr id="48" name="Diamond 47"/>
          <p:cNvSpPr/>
          <p:nvPr/>
        </p:nvSpPr>
        <p:spPr>
          <a:xfrm>
            <a:off x="7671797" y="4906263"/>
            <a:ext cx="201168" cy="201168"/>
          </a:xfrm>
          <a:prstGeom prst="diamond">
            <a:avLst/>
          </a:prstGeom>
          <a:solidFill>
            <a:srgbClr val="1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27829" y="514400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9443F"/>
                </a:solidFill>
                <a:latin typeface="Calibri"/>
              </a:rPr>
              <a:t>28 Sep  Pryor + Council Bluffs v1 edit</a:t>
            </a:r>
          </a:p>
        </p:txBody>
      </p:sp>
      <p:sp>
        <p:nvSpPr>
          <p:cNvPr id="50" name="Diamond 49"/>
          <p:cNvSpPr/>
          <p:nvPr/>
        </p:nvSpPr>
        <p:spPr>
          <a:xfrm>
            <a:off x="8203889" y="4321048"/>
            <a:ext cx="201168" cy="201168"/>
          </a:xfrm>
          <a:prstGeom prst="diamond">
            <a:avLst/>
          </a:prstGeom>
          <a:solidFill>
            <a:srgbClr val="1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59921" y="455879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9443F"/>
                </a:solidFill>
                <a:latin typeface="Calibri"/>
              </a:rPr>
              <a:t>30 Sep  J6</a:t>
            </a:r>
          </a:p>
        </p:txBody>
      </p:sp>
      <p:sp>
        <p:nvSpPr>
          <p:cNvPr id="52" name="Diamond 51"/>
          <p:cNvSpPr/>
          <p:nvPr/>
        </p:nvSpPr>
        <p:spPr>
          <a:xfrm>
            <a:off x="9534119" y="4613656"/>
            <a:ext cx="201168" cy="201168"/>
          </a:xfrm>
          <a:prstGeom prst="diamond">
            <a:avLst/>
          </a:prstGeom>
          <a:solidFill>
            <a:srgbClr val="1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20169" y="485140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39443F"/>
                </a:solidFill>
                <a:latin typeface="Calibri"/>
              </a:rPr>
              <a:t>5 Oct  Cross-market finals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7240" y="5592064"/>
            <a:ext cx="146304" cy="109728"/>
          </a:xfrm>
          <a:prstGeom prst="roundRect">
            <a:avLst>
              <a:gd name="adj" fmla="val 30000"/>
            </a:avLst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8408" y="5518912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39443F"/>
                </a:solidFill>
                <a:latin typeface="Calibri"/>
              </a:rPr>
              <a:t>field window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011680" y="5592064"/>
            <a:ext cx="146304" cy="109728"/>
          </a:xfrm>
          <a:prstGeom prst="roundRect">
            <a:avLst>
              <a:gd name="adj" fmla="val 30000"/>
            </a:avLst>
          </a:prstGeom>
          <a:solidFill>
            <a:srgbClr val="B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212848" y="5518912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39443F"/>
                </a:solidFill>
                <a:latin typeface="Calibri"/>
              </a:rPr>
              <a:t>public peg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127248" y="5592064"/>
            <a:ext cx="146304" cy="109728"/>
          </a:xfrm>
          <a:prstGeom prst="roundRect">
            <a:avLst>
              <a:gd name="adj" fmla="val 30000"/>
            </a:avLst>
          </a:prstGeom>
          <a:solidFill>
            <a:srgbClr val="1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28416" y="5518912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39443F"/>
                </a:solidFill>
                <a:latin typeface="Calibri"/>
              </a:rPr>
              <a:t>delivery gate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" y="6291072"/>
            <a:ext cx="1063748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7873"/>
                </a:solidFill>
                <a:latin typeface="Calibri"/>
              </a:rPr>
              <a:t>Read from the project's dated gates; weekends shaded; the dashed line is the build date  ·  measured at build, 9 September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12647"/>
            <a:ext cx="106374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7E9455"/>
                </a:solidFill>
                <a:latin typeface="Calibri"/>
              </a:rPr>
              <a:t>06  ·  WHO OWNS WHICH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180289" cy="544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E2A27"/>
                </a:solidFill>
                <a:latin typeface="Cambria"/>
              </a:rPr>
              <a:t>What changes hands, and when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641856"/>
            <a:ext cx="10637489" cy="0"/>
          </a:xfrm>
          <a:prstGeom prst="line">
            <a:avLst/>
          </a:prstGeom>
          <a:ln w="9525">
            <a:solidFill>
              <a:srgbClr val="E2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751584"/>
            <a:ext cx="27838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1E2A27"/>
                </a:solidFill>
                <a:latin typeface="Calibri"/>
              </a:rPr>
              <a:t>THE CONTRACTOR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69154" y="2044192"/>
            <a:ext cx="0" cy="2953512"/>
          </a:xfrm>
          <a:prstGeom prst="line">
            <a:avLst/>
          </a:prstGeom>
          <a:ln w="6350">
            <a:solidFill>
              <a:srgbClr val="E2E6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04069" y="1751584"/>
            <a:ext cx="27838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1E2A27"/>
                </a:solidFill>
                <a:latin typeface="Calibri"/>
              </a:rPr>
              <a:t>JUNO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5984" y="2044192"/>
            <a:ext cx="0" cy="2953512"/>
          </a:xfrm>
          <a:prstGeom prst="line">
            <a:avLst/>
          </a:prstGeom>
          <a:ln w="6350">
            <a:solidFill>
              <a:srgbClr val="E2E6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30899" y="1751584"/>
            <a:ext cx="27838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1E2A27"/>
                </a:solidFill>
                <a:latin typeface="Calibri"/>
              </a:rPr>
              <a:t>THE CLIENT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022814" y="2044192"/>
            <a:ext cx="0" cy="2953512"/>
          </a:xfrm>
          <a:prstGeom prst="line">
            <a:avLst/>
          </a:prstGeom>
          <a:ln w="6350">
            <a:solidFill>
              <a:srgbClr val="E2E6E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7240" y="2208784"/>
            <a:ext cx="2783829" cy="457200"/>
          </a:xfrm>
          <a:prstGeom prst="roundRect">
            <a:avLst>
              <a:gd name="adj" fmla="val 12000"/>
            </a:avLst>
          </a:prstGeom>
          <a:solidFill>
            <a:srgbClr val="1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208784"/>
            <a:ext cx="260094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Deliverables and interview material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61069" y="2437384"/>
            <a:ext cx="1143000" cy="0"/>
          </a:xfrm>
          <a:prstGeom prst="line">
            <a:avLst/>
          </a:prstGeom>
          <a:ln w="25400">
            <a:solidFill>
              <a:srgbClr val="1E2A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704069" y="2208784"/>
            <a:ext cx="2783829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2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487899" y="2437384"/>
            <a:ext cx="1143000" cy="0"/>
          </a:xfrm>
          <a:prstGeom prst="line">
            <a:avLst/>
          </a:prstGeom>
          <a:ln w="25400">
            <a:solidFill>
              <a:srgbClr val="1E2A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630899" y="2208784"/>
            <a:ext cx="2783829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2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1069" y="1952752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on payment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7899" y="1952752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on delivery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2958592"/>
            <a:ext cx="2783829" cy="457200"/>
          </a:xfrm>
          <a:prstGeom prst="roundRect">
            <a:avLst>
              <a:gd name="adj" fmla="val 12000"/>
            </a:avLst>
          </a:prstGeom>
          <a:solidFill>
            <a:srgbClr val="1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958592"/>
            <a:ext cx="260094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The method's description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61069" y="3187192"/>
            <a:ext cx="1143000" cy="0"/>
          </a:xfrm>
          <a:prstGeom prst="line">
            <a:avLst/>
          </a:prstGeom>
          <a:ln w="25400">
            <a:solidFill>
              <a:srgbClr val="1E2A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704069" y="2958592"/>
            <a:ext cx="2783829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2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487899" y="3187192"/>
            <a:ext cx="1143000" cy="0"/>
          </a:xfrm>
          <a:prstGeom prst="line">
            <a:avLst/>
          </a:prstGeom>
          <a:ln w="25400">
            <a:solidFill>
              <a:srgbClr val="1E2A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630899" y="2958592"/>
            <a:ext cx="2783829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2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1069" y="2702560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on payment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7899" y="2702560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on delivery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708400"/>
            <a:ext cx="2783829" cy="457200"/>
          </a:xfrm>
          <a:prstGeom prst="roundRect">
            <a:avLst>
              <a:gd name="adj" fmla="val 12000"/>
            </a:avLst>
          </a:prstGeom>
          <a:solidFill>
            <a:srgbClr val="B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708400"/>
            <a:ext cx="260094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Method built during, for the method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561069" y="3937000"/>
            <a:ext cx="1143000" cy="0"/>
          </a:xfrm>
          <a:prstGeom prst="line">
            <a:avLst/>
          </a:prstGeom>
          <a:ln w="25400">
            <a:solidFill>
              <a:srgbClr val="E2E6E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704069" y="3708400"/>
            <a:ext cx="2783829" cy="457200"/>
          </a:xfrm>
          <a:prstGeom prst="roundRect">
            <a:avLst>
              <a:gd name="adj" fmla="val 12000"/>
            </a:avLst>
          </a:prstGeom>
          <a:solidFill>
            <a:srgbClr val="F1F4EE"/>
          </a:solidFill>
          <a:ln w="15875">
            <a:solidFill>
              <a:srgbClr val="1E2A2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4069" y="3708400"/>
            <a:ext cx="278382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1E2A27"/>
                </a:solidFill>
                <a:latin typeface="Calibri"/>
              </a:rPr>
              <a:t>silent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87899" y="3937000"/>
            <a:ext cx="1143000" cy="0"/>
          </a:xfrm>
          <a:prstGeom prst="line">
            <a:avLst/>
          </a:prstGeom>
          <a:ln w="25400">
            <a:solidFill>
              <a:srgbClr val="B0754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630899" y="3708400"/>
            <a:ext cx="2783829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B07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1069" y="3452367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no clause moves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7899" y="3452367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by its own agreement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458208"/>
            <a:ext cx="2783829" cy="457200"/>
          </a:xfrm>
          <a:prstGeom prst="roundRect">
            <a:avLst>
              <a:gd name="adj" fmla="val 12000"/>
            </a:avLst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458208"/>
            <a:ext cx="260094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predates the engagement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87899" y="4686808"/>
            <a:ext cx="1143000" cy="0"/>
          </a:xfrm>
          <a:prstGeom prst="line">
            <a:avLst/>
          </a:prstGeom>
          <a:ln w="25400">
            <a:solidFill>
              <a:srgbClr val="7E945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630899" y="4458208"/>
            <a:ext cx="2783829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E945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1069" y="4202176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stays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87899" y="4202176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6B7873"/>
                </a:solidFill>
                <a:latin typeface="Calibri"/>
              </a:rPr>
              <a:t>licensed alongside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162296"/>
            <a:ext cx="10637489" cy="566928"/>
          </a:xfrm>
          <a:prstGeom prst="roundRect">
            <a:avLst>
              <a:gd name="adj" fmla="val 3500"/>
            </a:avLst>
          </a:prstGeom>
          <a:solidFill>
            <a:srgbClr val="F1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208016"/>
            <a:ext cx="1018028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01614"/>
                </a:solidFill>
                <a:latin typeface="Calibri"/>
              </a:rPr>
              <a:t>The middle row is the apparatus. No clause moves it to Juno; the client's own agreement reaches for it. That is the conversation, and this is not a licensing position.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91072"/>
            <a:ext cx="1063748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7873"/>
                </a:solidFill>
                <a:latin typeface="Calibri"/>
              </a:rPr>
              <a:t>From the provenance map, which quotes the four documents themselves; nothing here says what a licence would look like  ·  measured at build, 9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it all fits</dc:title>
  <dc:subject/>
  <dc:creator>Groundwork</dc:creator>
  <cp:keywords/>
  <dc:description>generated using python-pptx</dc:description>
  <cp:lastModifiedBy>Groundwork</cp:lastModifiedBy>
  <cp:revision>1</cp:revision>
  <dcterms:created xsi:type="dcterms:W3CDTF">2013-01-27T09:14:16Z</dcterms:created>
  <dcterms:modified xsi:type="dcterms:W3CDTF">2013-01-27T09:15:58Z</dcterms:modified>
  <cp:category/>
</cp:coreProperties>
</file>