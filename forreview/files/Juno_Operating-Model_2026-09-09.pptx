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SENTENCE — The operating model.</a:t>
            </a:r>
          </a:p>
          <a:p/>
          <a:p>
            <a:r>
              <a:t>Hand it over and let the question do the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SENTENCE — It has to be somebody other than us.</a:t>
            </a:r>
          </a:p>
          <a:p/>
          <a:p>
            <a:r>
              <a:t>This is the whole question the rest answers.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SENTENCE — Most of it does not need supervision.</a:t>
            </a:r>
          </a:p>
          <a:p/>
          <a:p>
            <a:r>
              <a:t>Do not walk all nine. Point at the shape.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SENTENCE — The checks travel with the method.</a:t>
            </a:r>
          </a:p>
          <a:p/>
          <a:p>
            <a:r>
              <a:t>This is the slide that answers 'how do you keep quality'.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SENTENCE — Design it down rather than duplicate it.</a:t>
            </a:r>
          </a:p>
          <a:p/>
          <a:p>
            <a:r>
              <a:t>The third card is the whole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SENTENCE — The first one comes first for a reason.</a:t>
            </a:r>
          </a:p>
          <a:p/>
          <a:p>
            <a:r>
              <a:t>One is done. Two are part-built. Two are scoped.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SENTENCE — The second market does not pay to learn the first one's lessons.</a:t>
            </a:r>
          </a:p>
          <a:p/>
          <a:p>
            <a:r>
              <a:t>Two examples, not the register. The rule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SENTENCE — A conversation about order.</a:t>
            </a:r>
          </a:p>
          <a:p/>
          <a:p>
            <a:r>
              <a:t>One ask. Do not add a second.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1016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645920"/>
            <a:ext cx="10637489" cy="201168"/>
          </a:xfrm>
          <a:prstGeom prst="rect">
            <a:avLst/>
          </a:prstGeom>
          <a:noFill/>
        </p:spPr>
        <p:txBody>
          <a:bodyPr wrap="square" anchor="t" lIns="0" rIns="0" tIns="0" bIns="0">
            <a:spAutoFit/>
          </a:bodyPr>
          <a:lstStyle/>
          <a:p>
            <a:pPr algn="l">
              <a:lnSpc>
                <a:spcPct val="118000"/>
              </a:lnSpc>
            </a:pPr>
            <a:r>
              <a:rPr sz="1000" b="1" i="0">
                <a:solidFill>
                  <a:srgbClr val="A8BC80"/>
                </a:solidFill>
                <a:latin typeface="Calibri"/>
              </a:rPr>
              <a:t>THE GROUNDWORK METHOD  ·  BY JUNO COLLECTIVE</a:t>
            </a:r>
          </a:p>
        </p:txBody>
      </p:sp>
      <p:sp>
        <p:nvSpPr>
          <p:cNvPr id="4" name="TextBox 3"/>
          <p:cNvSpPr txBox="1"/>
          <p:nvPr/>
        </p:nvSpPr>
        <p:spPr>
          <a:xfrm>
            <a:off x="777240" y="2011680"/>
            <a:ext cx="10637489" cy="918971"/>
          </a:xfrm>
          <a:prstGeom prst="rect">
            <a:avLst/>
          </a:prstGeom>
          <a:noFill/>
        </p:spPr>
        <p:txBody>
          <a:bodyPr wrap="square" anchor="t" lIns="0" rIns="0" tIns="0" bIns="0">
            <a:spAutoFit/>
          </a:bodyPr>
          <a:lstStyle/>
          <a:p>
            <a:pPr algn="l">
              <a:lnSpc>
                <a:spcPct val="118000"/>
              </a:lnSpc>
            </a:pPr>
            <a:r>
              <a:rPr sz="5400" b="0" i="0">
                <a:solidFill>
                  <a:srgbClr val="FBFAF8"/>
                </a:solidFill>
                <a:latin typeface="Cambria"/>
              </a:rPr>
              <a:t>The operating model</a:t>
            </a:r>
          </a:p>
        </p:txBody>
      </p:sp>
      <p:sp>
        <p:nvSpPr>
          <p:cNvPr id="5" name="Oval 4"/>
          <p:cNvSpPr/>
          <p:nvPr/>
        </p:nvSpPr>
        <p:spPr>
          <a:xfrm>
            <a:off x="8671438" y="2343150"/>
            <a:ext cx="256032" cy="256032"/>
          </a:xfrm>
          <a:prstGeom prst="ellipse">
            <a:avLst/>
          </a:prstGeom>
          <a:solidFill>
            <a:srgbClr val="7E9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3204972"/>
            <a:ext cx="8778240" cy="914400"/>
          </a:xfrm>
          <a:prstGeom prst="rect">
            <a:avLst/>
          </a:prstGeom>
          <a:noFill/>
        </p:spPr>
        <p:txBody>
          <a:bodyPr wrap="square" anchor="t" lIns="0" rIns="0" tIns="0" bIns="0">
            <a:spAutoFit/>
          </a:bodyPr>
          <a:lstStyle/>
          <a:p>
            <a:pPr algn="l">
              <a:lnSpc>
                <a:spcPct val="118000"/>
              </a:lnSpc>
            </a:pPr>
            <a:r>
              <a:rPr sz="1900" b="0" i="0">
                <a:solidFill>
                  <a:srgbClr val="C6D2CB"/>
                </a:solidFill>
                <a:latin typeface="Calibri"/>
              </a:rPr>
              <a:t>How a market runs, and what has to be true before a second team can run one.</a:t>
            </a:r>
          </a:p>
        </p:txBody>
      </p:sp>
      <p:sp>
        <p:nvSpPr>
          <p:cNvPr id="7" name="TextBox 6"/>
          <p:cNvSpPr txBox="1"/>
          <p:nvPr/>
        </p:nvSpPr>
        <p:spPr>
          <a:xfrm>
            <a:off x="777240" y="5669280"/>
            <a:ext cx="8778240" cy="365760"/>
          </a:xfrm>
          <a:prstGeom prst="rect">
            <a:avLst/>
          </a:prstGeom>
          <a:noFill/>
        </p:spPr>
        <p:txBody>
          <a:bodyPr wrap="square" anchor="t" lIns="0" rIns="0" tIns="0" bIns="0">
            <a:spAutoFit/>
          </a:bodyPr>
          <a:lstStyle/>
          <a:p>
            <a:pPr algn="l">
              <a:lnSpc>
                <a:spcPct val="118000"/>
              </a:lnSpc>
            </a:pPr>
            <a:r>
              <a:rPr sz="1150" b="0" i="0">
                <a:solidFill>
                  <a:srgbClr val="8A9490"/>
                </a:solidFill>
                <a:latin typeface="Calibri"/>
              </a:rPr>
              <a:t>juno-collective.com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1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77240" y="1839467"/>
            <a:ext cx="182880" cy="182880"/>
          </a:xfrm>
          <a:prstGeom prst="ellipse">
            <a:avLst/>
          </a:prstGeom>
          <a:solidFill>
            <a:srgbClr val="7E9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369819"/>
            <a:ext cx="9265889" cy="1021080"/>
          </a:xfrm>
          <a:prstGeom prst="rect">
            <a:avLst/>
          </a:prstGeom>
          <a:noFill/>
        </p:spPr>
        <p:txBody>
          <a:bodyPr wrap="square" anchor="t" lIns="0" rIns="0" tIns="0" bIns="0">
            <a:spAutoFit/>
          </a:bodyPr>
          <a:lstStyle/>
          <a:p>
            <a:pPr algn="l">
              <a:lnSpc>
                <a:spcPct val="118000"/>
              </a:lnSpc>
            </a:pPr>
            <a:r>
              <a:rPr sz="3000" b="0" i="0">
                <a:solidFill>
                  <a:srgbClr val="1E2A27"/>
                </a:solidFill>
                <a:latin typeface="Cambria"/>
              </a:rPr>
              <a:t>Who runs the second market, and what do they run it on?</a:t>
            </a:r>
          </a:p>
        </p:txBody>
      </p:sp>
      <p:sp>
        <p:nvSpPr>
          <p:cNvPr id="5" name="TextBox 4"/>
          <p:cNvSpPr txBox="1"/>
          <p:nvPr/>
        </p:nvSpPr>
        <p:spPr>
          <a:xfrm>
            <a:off x="777240" y="3701795"/>
            <a:ext cx="9265889" cy="914400"/>
          </a:xfrm>
          <a:prstGeom prst="rect">
            <a:avLst/>
          </a:prstGeom>
          <a:noFill/>
        </p:spPr>
        <p:txBody>
          <a:bodyPr wrap="square" anchor="t" lIns="0" rIns="0" tIns="0" bIns="0">
            <a:spAutoFit/>
          </a:bodyPr>
          <a:lstStyle/>
          <a:p>
            <a:pPr algn="l">
              <a:lnSpc>
                <a:spcPct val="118000"/>
              </a:lnSpc>
            </a:pPr>
            <a:r>
              <a:rPr sz="1700" b="0" i="0">
                <a:solidFill>
                  <a:srgbClr val="6B7873"/>
                </a:solidFill>
                <a:latin typeface="Calibri"/>
              </a:rPr>
              <a:t>A market runs as a sequence of stages, and each one has to produce its own evidence before the next can start. That sequence is written down, most of it is automated, and the parts that are not are the parts where a person should be deciding.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58368"/>
            <a:ext cx="10637489" cy="201168"/>
          </a:xfrm>
          <a:prstGeom prst="rect">
            <a:avLst/>
          </a:prstGeom>
          <a:noFill/>
        </p:spPr>
        <p:txBody>
          <a:bodyPr wrap="square" anchor="t" lIns="0" rIns="0" tIns="0" bIns="0">
            <a:spAutoFit/>
          </a:bodyPr>
          <a:lstStyle/>
          <a:p>
            <a:pPr algn="l">
              <a:lnSpc>
                <a:spcPct val="118000"/>
              </a:lnSpc>
            </a:pPr>
            <a:r>
              <a:rPr sz="1000" b="1" i="0">
                <a:solidFill>
                  <a:srgbClr val="6B7873"/>
                </a:solidFill>
                <a:latin typeface="Calibri"/>
              </a:rPr>
              <a:t>HOW A MARKET RUNS</a:t>
            </a:r>
          </a:p>
        </p:txBody>
      </p:sp>
      <p:sp>
        <p:nvSpPr>
          <p:cNvPr id="4" name="TextBox 3"/>
          <p:cNvSpPr txBox="1"/>
          <p:nvPr/>
        </p:nvSpPr>
        <p:spPr>
          <a:xfrm>
            <a:off x="777240" y="932688"/>
            <a:ext cx="10180289" cy="1089152"/>
          </a:xfrm>
          <a:prstGeom prst="rect">
            <a:avLst/>
          </a:prstGeom>
          <a:noFill/>
        </p:spPr>
        <p:txBody>
          <a:bodyPr wrap="square" anchor="t" lIns="0" rIns="0" tIns="0" bIns="0">
            <a:spAutoFit/>
          </a:bodyPr>
          <a:lstStyle/>
          <a:p>
            <a:pPr algn="l">
              <a:lnSpc>
                <a:spcPct val="118000"/>
              </a:lnSpc>
            </a:pPr>
            <a:r>
              <a:rPr sz="3200" b="0" i="0">
                <a:solidFill>
                  <a:srgbClr val="101614"/>
                </a:solidFill>
                <a:latin typeface="Cambria"/>
              </a:rPr>
              <a:t>Nine stages across four moves, each one gated</a:t>
            </a:r>
          </a:p>
        </p:txBody>
      </p:sp>
      <p:sp>
        <p:nvSpPr>
          <p:cNvPr id="5" name="Oval 4"/>
          <p:cNvSpPr/>
          <p:nvPr/>
        </p:nvSpPr>
        <p:spPr>
          <a:xfrm>
            <a:off x="11140409" y="1394968"/>
            <a:ext cx="164592" cy="164592"/>
          </a:xfrm>
          <a:prstGeom prst="ellipse">
            <a:avLst/>
          </a:prstGeom>
          <a:solidFill>
            <a:srgbClr val="7E9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2635239"/>
            <a:ext cx="2010454" cy="1128395"/>
          </a:xfrm>
          <a:prstGeom prst="roundRect">
            <a:avLst>
              <a:gd name="adj" fmla="val 3500"/>
            </a:avLst>
          </a:prstGeom>
          <a:solidFill>
            <a:srgbClr val="F1F4EE"/>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5" y="2872983"/>
            <a:ext cx="1571542" cy="201168"/>
          </a:xfrm>
          <a:prstGeom prst="rect">
            <a:avLst/>
          </a:prstGeom>
          <a:noFill/>
        </p:spPr>
        <p:txBody>
          <a:bodyPr wrap="square" anchor="t" lIns="0" rIns="0" tIns="0" bIns="0">
            <a:spAutoFit/>
          </a:bodyPr>
          <a:lstStyle/>
          <a:p>
            <a:pPr algn="l">
              <a:lnSpc>
                <a:spcPct val="118000"/>
              </a:lnSpc>
            </a:pPr>
            <a:r>
              <a:rPr sz="1000" b="1" i="0">
                <a:solidFill>
                  <a:srgbClr val="B0754A"/>
                </a:solidFill>
                <a:latin typeface="Calibri"/>
              </a:rPr>
              <a:t>0</a:t>
            </a:r>
          </a:p>
        </p:txBody>
      </p:sp>
      <p:sp>
        <p:nvSpPr>
          <p:cNvPr id="8" name="TextBox 7"/>
          <p:cNvSpPr txBox="1"/>
          <p:nvPr/>
        </p:nvSpPr>
        <p:spPr>
          <a:xfrm>
            <a:off x="996695" y="3129015"/>
            <a:ext cx="1571542" cy="274320"/>
          </a:xfrm>
          <a:prstGeom prst="rect">
            <a:avLst/>
          </a:prstGeom>
          <a:noFill/>
        </p:spPr>
        <p:txBody>
          <a:bodyPr wrap="square" anchor="t" lIns="0" rIns="0" tIns="0" bIns="0">
            <a:spAutoFit/>
          </a:bodyPr>
          <a:lstStyle/>
          <a:p>
            <a:pPr algn="l">
              <a:lnSpc>
                <a:spcPct val="118000"/>
              </a:lnSpc>
            </a:pPr>
            <a:r>
              <a:rPr sz="1350" b="1" i="0">
                <a:solidFill>
                  <a:srgbClr val="101614"/>
                </a:solidFill>
                <a:latin typeface="Calibri"/>
              </a:rPr>
              <a:t>Spin-up</a:t>
            </a:r>
          </a:p>
        </p:txBody>
      </p:sp>
      <p:sp>
        <p:nvSpPr>
          <p:cNvPr id="9" name="TextBox 8"/>
          <p:cNvSpPr txBox="1"/>
          <p:nvPr/>
        </p:nvSpPr>
        <p:spPr>
          <a:xfrm>
            <a:off x="996695" y="3439911"/>
            <a:ext cx="1571542" cy="122554"/>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still to build</a:t>
            </a:r>
          </a:p>
        </p:txBody>
      </p:sp>
      <p:sp>
        <p:nvSpPr>
          <p:cNvPr id="10" name="Rounded Rectangle 9"/>
          <p:cNvSpPr/>
          <p:nvPr/>
        </p:nvSpPr>
        <p:spPr>
          <a:xfrm>
            <a:off x="2933998" y="2635239"/>
            <a:ext cx="2010454" cy="1128395"/>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3454" y="2872983"/>
            <a:ext cx="1571542" cy="201168"/>
          </a:xfrm>
          <a:prstGeom prst="rect">
            <a:avLst/>
          </a:prstGeom>
          <a:noFill/>
        </p:spPr>
        <p:txBody>
          <a:bodyPr wrap="square" anchor="t" lIns="0" rIns="0" tIns="0" bIns="0">
            <a:spAutoFit/>
          </a:bodyPr>
          <a:lstStyle/>
          <a:p>
            <a:pPr algn="l">
              <a:lnSpc>
                <a:spcPct val="118000"/>
              </a:lnSpc>
            </a:pPr>
            <a:r>
              <a:rPr sz="1000" b="1" i="0">
                <a:solidFill>
                  <a:srgbClr val="B0754A"/>
                </a:solidFill>
                <a:latin typeface="Calibri"/>
              </a:rPr>
              <a:t>1</a:t>
            </a:r>
          </a:p>
        </p:txBody>
      </p:sp>
      <p:sp>
        <p:nvSpPr>
          <p:cNvPr id="12" name="TextBox 11"/>
          <p:cNvSpPr txBox="1"/>
          <p:nvPr/>
        </p:nvSpPr>
        <p:spPr>
          <a:xfrm>
            <a:off x="3153454" y="3129015"/>
            <a:ext cx="1571542" cy="274320"/>
          </a:xfrm>
          <a:prstGeom prst="rect">
            <a:avLst/>
          </a:prstGeom>
          <a:noFill/>
        </p:spPr>
        <p:txBody>
          <a:bodyPr wrap="square" anchor="t" lIns="0" rIns="0" tIns="0" bIns="0">
            <a:spAutoFit/>
          </a:bodyPr>
          <a:lstStyle/>
          <a:p>
            <a:pPr algn="l">
              <a:lnSpc>
                <a:spcPct val="118000"/>
              </a:lnSpc>
            </a:pPr>
            <a:r>
              <a:rPr sz="1350" b="1" i="0">
                <a:solidFill>
                  <a:srgbClr val="101614"/>
                </a:solidFill>
                <a:latin typeface="Calibri"/>
              </a:rPr>
              <a:t>Desk</a:t>
            </a:r>
          </a:p>
        </p:txBody>
      </p:sp>
      <p:sp>
        <p:nvSpPr>
          <p:cNvPr id="13" name="TextBox 12"/>
          <p:cNvSpPr txBox="1"/>
          <p:nvPr/>
        </p:nvSpPr>
        <p:spPr>
          <a:xfrm>
            <a:off x="3153454" y="3439911"/>
            <a:ext cx="1571542" cy="122554"/>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a person decides</a:t>
            </a:r>
          </a:p>
        </p:txBody>
      </p:sp>
      <p:sp>
        <p:nvSpPr>
          <p:cNvPr id="14" name="Rounded Rectangle 13"/>
          <p:cNvSpPr/>
          <p:nvPr/>
        </p:nvSpPr>
        <p:spPr>
          <a:xfrm>
            <a:off x="5090757" y="2635239"/>
            <a:ext cx="2010454" cy="1128395"/>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10213" y="2872983"/>
            <a:ext cx="1571542" cy="201168"/>
          </a:xfrm>
          <a:prstGeom prst="rect">
            <a:avLst/>
          </a:prstGeom>
          <a:noFill/>
        </p:spPr>
        <p:txBody>
          <a:bodyPr wrap="square" anchor="t" lIns="0" rIns="0" tIns="0" bIns="0">
            <a:spAutoFit/>
          </a:bodyPr>
          <a:lstStyle/>
          <a:p>
            <a:pPr algn="l">
              <a:lnSpc>
                <a:spcPct val="118000"/>
              </a:lnSpc>
            </a:pPr>
            <a:r>
              <a:rPr sz="1000" b="1" i="0">
                <a:solidFill>
                  <a:srgbClr val="B0754A"/>
                </a:solidFill>
                <a:latin typeface="Calibri"/>
              </a:rPr>
              <a:t>2</a:t>
            </a:r>
          </a:p>
        </p:txBody>
      </p:sp>
      <p:sp>
        <p:nvSpPr>
          <p:cNvPr id="16" name="TextBox 15"/>
          <p:cNvSpPr txBox="1"/>
          <p:nvPr/>
        </p:nvSpPr>
        <p:spPr>
          <a:xfrm>
            <a:off x="5310213" y="3129015"/>
            <a:ext cx="1571542" cy="274320"/>
          </a:xfrm>
          <a:prstGeom prst="rect">
            <a:avLst/>
          </a:prstGeom>
          <a:noFill/>
        </p:spPr>
        <p:txBody>
          <a:bodyPr wrap="square" anchor="t" lIns="0" rIns="0" tIns="0" bIns="0">
            <a:spAutoFit/>
          </a:bodyPr>
          <a:lstStyle/>
          <a:p>
            <a:pPr algn="l">
              <a:lnSpc>
                <a:spcPct val="118000"/>
              </a:lnSpc>
            </a:pPr>
            <a:r>
              <a:rPr sz="1350" b="1" i="0">
                <a:solidFill>
                  <a:srgbClr val="101614"/>
                </a:solidFill>
                <a:latin typeface="Calibri"/>
              </a:rPr>
              <a:t>Field</a:t>
            </a:r>
          </a:p>
        </p:txBody>
      </p:sp>
      <p:sp>
        <p:nvSpPr>
          <p:cNvPr id="17" name="TextBox 16"/>
          <p:cNvSpPr txBox="1"/>
          <p:nvPr/>
        </p:nvSpPr>
        <p:spPr>
          <a:xfrm>
            <a:off x="5310213" y="3439911"/>
            <a:ext cx="1571542" cy="122554"/>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a person decides</a:t>
            </a:r>
          </a:p>
        </p:txBody>
      </p:sp>
      <p:sp>
        <p:nvSpPr>
          <p:cNvPr id="18" name="Rounded Rectangle 17"/>
          <p:cNvSpPr/>
          <p:nvPr/>
        </p:nvSpPr>
        <p:spPr>
          <a:xfrm>
            <a:off x="7247516" y="2635239"/>
            <a:ext cx="2010454" cy="1128395"/>
          </a:xfrm>
          <a:prstGeom prst="roundRect">
            <a:avLst>
              <a:gd name="adj" fmla="val 3500"/>
            </a:avLst>
          </a:prstGeom>
          <a:solidFill>
            <a:srgbClr val="EEF3F2"/>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6972" y="2872983"/>
            <a:ext cx="1571542" cy="201168"/>
          </a:xfrm>
          <a:prstGeom prst="rect">
            <a:avLst/>
          </a:prstGeom>
          <a:noFill/>
        </p:spPr>
        <p:txBody>
          <a:bodyPr wrap="square" anchor="t" lIns="0" rIns="0" tIns="0" bIns="0">
            <a:spAutoFit/>
          </a:bodyPr>
          <a:lstStyle/>
          <a:p>
            <a:pPr algn="l">
              <a:lnSpc>
                <a:spcPct val="118000"/>
              </a:lnSpc>
            </a:pPr>
            <a:r>
              <a:rPr sz="1000" b="1" i="0">
                <a:solidFill>
                  <a:srgbClr val="B0754A"/>
                </a:solidFill>
                <a:latin typeface="Calibri"/>
              </a:rPr>
              <a:t>3</a:t>
            </a:r>
          </a:p>
        </p:txBody>
      </p:sp>
      <p:sp>
        <p:nvSpPr>
          <p:cNvPr id="20" name="TextBox 19"/>
          <p:cNvSpPr txBox="1"/>
          <p:nvPr/>
        </p:nvSpPr>
        <p:spPr>
          <a:xfrm>
            <a:off x="7466972" y="3129015"/>
            <a:ext cx="1571542" cy="274320"/>
          </a:xfrm>
          <a:prstGeom prst="rect">
            <a:avLst/>
          </a:prstGeom>
          <a:noFill/>
        </p:spPr>
        <p:txBody>
          <a:bodyPr wrap="square" anchor="t" lIns="0" rIns="0" tIns="0" bIns="0">
            <a:spAutoFit/>
          </a:bodyPr>
          <a:lstStyle/>
          <a:p>
            <a:pPr algn="l">
              <a:lnSpc>
                <a:spcPct val="118000"/>
              </a:lnSpc>
            </a:pPr>
            <a:r>
              <a:rPr sz="1350" b="1" i="0">
                <a:solidFill>
                  <a:srgbClr val="101614"/>
                </a:solidFill>
                <a:latin typeface="Calibri"/>
              </a:rPr>
              <a:t>Intake</a:t>
            </a:r>
          </a:p>
        </p:txBody>
      </p:sp>
      <p:sp>
        <p:nvSpPr>
          <p:cNvPr id="21" name="TextBox 20"/>
          <p:cNvSpPr txBox="1"/>
          <p:nvPr/>
        </p:nvSpPr>
        <p:spPr>
          <a:xfrm>
            <a:off x="7466972" y="3439911"/>
            <a:ext cx="1571542" cy="122554"/>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runs itself</a:t>
            </a:r>
          </a:p>
        </p:txBody>
      </p:sp>
      <p:sp>
        <p:nvSpPr>
          <p:cNvPr id="22" name="Rounded Rectangle 21"/>
          <p:cNvSpPr/>
          <p:nvPr/>
        </p:nvSpPr>
        <p:spPr>
          <a:xfrm>
            <a:off x="9404274" y="2635239"/>
            <a:ext cx="2010454" cy="1128395"/>
          </a:xfrm>
          <a:prstGeom prst="roundRect">
            <a:avLst>
              <a:gd name="adj" fmla="val 3500"/>
            </a:avLst>
          </a:prstGeom>
          <a:solidFill>
            <a:srgbClr val="FBF6F1"/>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23730" y="2872983"/>
            <a:ext cx="1571542" cy="201168"/>
          </a:xfrm>
          <a:prstGeom prst="rect">
            <a:avLst/>
          </a:prstGeom>
          <a:noFill/>
        </p:spPr>
        <p:txBody>
          <a:bodyPr wrap="square" anchor="t" lIns="0" rIns="0" tIns="0" bIns="0">
            <a:spAutoFit/>
          </a:bodyPr>
          <a:lstStyle/>
          <a:p>
            <a:pPr algn="l">
              <a:lnSpc>
                <a:spcPct val="118000"/>
              </a:lnSpc>
            </a:pPr>
            <a:r>
              <a:rPr sz="1000" b="1" i="0">
                <a:solidFill>
                  <a:srgbClr val="B0754A"/>
                </a:solidFill>
                <a:latin typeface="Calibri"/>
              </a:rPr>
              <a:t>4</a:t>
            </a:r>
          </a:p>
        </p:txBody>
      </p:sp>
      <p:sp>
        <p:nvSpPr>
          <p:cNvPr id="24" name="TextBox 23"/>
          <p:cNvSpPr txBox="1"/>
          <p:nvPr/>
        </p:nvSpPr>
        <p:spPr>
          <a:xfrm>
            <a:off x="9623730" y="3129015"/>
            <a:ext cx="1571542" cy="274320"/>
          </a:xfrm>
          <a:prstGeom prst="rect">
            <a:avLst/>
          </a:prstGeom>
          <a:noFill/>
        </p:spPr>
        <p:txBody>
          <a:bodyPr wrap="square" anchor="t" lIns="0" rIns="0" tIns="0" bIns="0">
            <a:spAutoFit/>
          </a:bodyPr>
          <a:lstStyle/>
          <a:p>
            <a:pPr algn="l">
              <a:lnSpc>
                <a:spcPct val="118000"/>
              </a:lnSpc>
            </a:pPr>
            <a:r>
              <a:rPr sz="1350" b="1" i="0">
                <a:solidFill>
                  <a:srgbClr val="101614"/>
                </a:solidFill>
                <a:latin typeface="Calibri"/>
              </a:rPr>
              <a:t>Evidence</a:t>
            </a:r>
          </a:p>
        </p:txBody>
      </p:sp>
      <p:sp>
        <p:nvSpPr>
          <p:cNvPr id="25" name="TextBox 24"/>
          <p:cNvSpPr txBox="1"/>
          <p:nvPr/>
        </p:nvSpPr>
        <p:spPr>
          <a:xfrm>
            <a:off x="9623730" y="3439911"/>
            <a:ext cx="1571542" cy="122554"/>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refuses on its own</a:t>
            </a:r>
          </a:p>
        </p:txBody>
      </p:sp>
      <p:sp>
        <p:nvSpPr>
          <p:cNvPr id="26" name="Rounded Rectangle 25"/>
          <p:cNvSpPr/>
          <p:nvPr/>
        </p:nvSpPr>
        <p:spPr>
          <a:xfrm>
            <a:off x="777240" y="3909938"/>
            <a:ext cx="2010454" cy="1128395"/>
          </a:xfrm>
          <a:prstGeom prst="roundRect">
            <a:avLst>
              <a:gd name="adj" fmla="val 3500"/>
            </a:avLst>
          </a:prstGeom>
          <a:solidFill>
            <a:srgbClr val="FBF6F1"/>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96695" y="4147682"/>
            <a:ext cx="1571542" cy="201168"/>
          </a:xfrm>
          <a:prstGeom prst="rect">
            <a:avLst/>
          </a:prstGeom>
          <a:noFill/>
        </p:spPr>
        <p:txBody>
          <a:bodyPr wrap="square" anchor="t" lIns="0" rIns="0" tIns="0" bIns="0">
            <a:spAutoFit/>
          </a:bodyPr>
          <a:lstStyle/>
          <a:p>
            <a:pPr algn="l">
              <a:lnSpc>
                <a:spcPct val="118000"/>
              </a:lnSpc>
            </a:pPr>
            <a:r>
              <a:rPr sz="1000" b="1" i="0">
                <a:solidFill>
                  <a:srgbClr val="B0754A"/>
                </a:solidFill>
                <a:latin typeface="Calibri"/>
              </a:rPr>
              <a:t>5</a:t>
            </a:r>
          </a:p>
        </p:txBody>
      </p:sp>
      <p:sp>
        <p:nvSpPr>
          <p:cNvPr id="28" name="TextBox 27"/>
          <p:cNvSpPr txBox="1"/>
          <p:nvPr/>
        </p:nvSpPr>
        <p:spPr>
          <a:xfrm>
            <a:off x="996695" y="4403714"/>
            <a:ext cx="1571542" cy="274320"/>
          </a:xfrm>
          <a:prstGeom prst="rect">
            <a:avLst/>
          </a:prstGeom>
          <a:noFill/>
        </p:spPr>
        <p:txBody>
          <a:bodyPr wrap="square" anchor="t" lIns="0" rIns="0" tIns="0" bIns="0">
            <a:spAutoFit/>
          </a:bodyPr>
          <a:lstStyle/>
          <a:p>
            <a:pPr algn="l">
              <a:lnSpc>
                <a:spcPct val="118000"/>
              </a:lnSpc>
            </a:pPr>
            <a:r>
              <a:rPr sz="1350" b="1" i="0">
                <a:solidFill>
                  <a:srgbClr val="101614"/>
                </a:solidFill>
                <a:latin typeface="Calibri"/>
              </a:rPr>
              <a:t>Shortlist</a:t>
            </a:r>
          </a:p>
        </p:txBody>
      </p:sp>
      <p:sp>
        <p:nvSpPr>
          <p:cNvPr id="29" name="TextBox 28"/>
          <p:cNvSpPr txBox="1"/>
          <p:nvPr/>
        </p:nvSpPr>
        <p:spPr>
          <a:xfrm>
            <a:off x="996695" y="4714610"/>
            <a:ext cx="1571542" cy="122554"/>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refuses on its own</a:t>
            </a:r>
          </a:p>
        </p:txBody>
      </p:sp>
      <p:sp>
        <p:nvSpPr>
          <p:cNvPr id="30" name="Rounded Rectangle 29"/>
          <p:cNvSpPr/>
          <p:nvPr/>
        </p:nvSpPr>
        <p:spPr>
          <a:xfrm>
            <a:off x="2933998" y="3909938"/>
            <a:ext cx="2010454" cy="1128395"/>
          </a:xfrm>
          <a:prstGeom prst="roundRect">
            <a:avLst>
              <a:gd name="adj" fmla="val 3500"/>
            </a:avLst>
          </a:prstGeom>
          <a:solidFill>
            <a:srgbClr val="EEF3F2"/>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53454" y="4147682"/>
            <a:ext cx="1571542" cy="201168"/>
          </a:xfrm>
          <a:prstGeom prst="rect">
            <a:avLst/>
          </a:prstGeom>
          <a:noFill/>
        </p:spPr>
        <p:txBody>
          <a:bodyPr wrap="square" anchor="t" lIns="0" rIns="0" tIns="0" bIns="0">
            <a:spAutoFit/>
          </a:bodyPr>
          <a:lstStyle/>
          <a:p>
            <a:pPr algn="l">
              <a:lnSpc>
                <a:spcPct val="118000"/>
              </a:lnSpc>
            </a:pPr>
            <a:r>
              <a:rPr sz="1000" b="1" i="0">
                <a:solidFill>
                  <a:srgbClr val="B0754A"/>
                </a:solidFill>
                <a:latin typeface="Calibri"/>
              </a:rPr>
              <a:t>6</a:t>
            </a:r>
          </a:p>
        </p:txBody>
      </p:sp>
      <p:sp>
        <p:nvSpPr>
          <p:cNvPr id="32" name="TextBox 31"/>
          <p:cNvSpPr txBox="1"/>
          <p:nvPr/>
        </p:nvSpPr>
        <p:spPr>
          <a:xfrm>
            <a:off x="3153454" y="4403714"/>
            <a:ext cx="1571542" cy="274320"/>
          </a:xfrm>
          <a:prstGeom prst="rect">
            <a:avLst/>
          </a:prstGeom>
          <a:noFill/>
        </p:spPr>
        <p:txBody>
          <a:bodyPr wrap="square" anchor="t" lIns="0" rIns="0" tIns="0" bIns="0">
            <a:spAutoFit/>
          </a:bodyPr>
          <a:lstStyle/>
          <a:p>
            <a:pPr algn="l">
              <a:lnSpc>
                <a:spcPct val="118000"/>
              </a:lnSpc>
            </a:pPr>
            <a:r>
              <a:rPr sz="1350" b="1" i="0">
                <a:solidFill>
                  <a:srgbClr val="101614"/>
                </a:solidFill>
                <a:latin typeface="Calibri"/>
              </a:rPr>
              <a:t>Surfaces</a:t>
            </a:r>
          </a:p>
        </p:txBody>
      </p:sp>
      <p:sp>
        <p:nvSpPr>
          <p:cNvPr id="33" name="TextBox 32"/>
          <p:cNvSpPr txBox="1"/>
          <p:nvPr/>
        </p:nvSpPr>
        <p:spPr>
          <a:xfrm>
            <a:off x="3153454" y="4714610"/>
            <a:ext cx="1571542" cy="122554"/>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runs itself</a:t>
            </a:r>
          </a:p>
        </p:txBody>
      </p:sp>
      <p:sp>
        <p:nvSpPr>
          <p:cNvPr id="34" name="Rounded Rectangle 33"/>
          <p:cNvSpPr/>
          <p:nvPr/>
        </p:nvSpPr>
        <p:spPr>
          <a:xfrm>
            <a:off x="5090757" y="3909938"/>
            <a:ext cx="2010454" cy="1128395"/>
          </a:xfrm>
          <a:prstGeom prst="roundRect">
            <a:avLst>
              <a:gd name="adj" fmla="val 3500"/>
            </a:avLst>
          </a:prstGeom>
          <a:solidFill>
            <a:srgbClr val="FBF6F1"/>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10213" y="4147682"/>
            <a:ext cx="1571542" cy="201168"/>
          </a:xfrm>
          <a:prstGeom prst="rect">
            <a:avLst/>
          </a:prstGeom>
          <a:noFill/>
        </p:spPr>
        <p:txBody>
          <a:bodyPr wrap="square" anchor="t" lIns="0" rIns="0" tIns="0" bIns="0">
            <a:spAutoFit/>
          </a:bodyPr>
          <a:lstStyle/>
          <a:p>
            <a:pPr algn="l">
              <a:lnSpc>
                <a:spcPct val="118000"/>
              </a:lnSpc>
            </a:pPr>
            <a:r>
              <a:rPr sz="1000" b="1" i="0">
                <a:solidFill>
                  <a:srgbClr val="B0754A"/>
                </a:solidFill>
                <a:latin typeface="Calibri"/>
              </a:rPr>
              <a:t>7</a:t>
            </a:r>
          </a:p>
        </p:txBody>
      </p:sp>
      <p:sp>
        <p:nvSpPr>
          <p:cNvPr id="36" name="TextBox 35"/>
          <p:cNvSpPr txBox="1"/>
          <p:nvPr/>
        </p:nvSpPr>
        <p:spPr>
          <a:xfrm>
            <a:off x="5310213" y="4403714"/>
            <a:ext cx="1571542" cy="274320"/>
          </a:xfrm>
          <a:prstGeom prst="rect">
            <a:avLst/>
          </a:prstGeom>
          <a:noFill/>
        </p:spPr>
        <p:txBody>
          <a:bodyPr wrap="square" anchor="t" lIns="0" rIns="0" tIns="0" bIns="0">
            <a:spAutoFit/>
          </a:bodyPr>
          <a:lstStyle/>
          <a:p>
            <a:pPr algn="l">
              <a:lnSpc>
                <a:spcPct val="118000"/>
              </a:lnSpc>
            </a:pPr>
            <a:r>
              <a:rPr sz="1350" b="1" i="0">
                <a:solidFill>
                  <a:srgbClr val="101614"/>
                </a:solidFill>
                <a:latin typeface="Calibri"/>
              </a:rPr>
              <a:t>Checks</a:t>
            </a:r>
          </a:p>
        </p:txBody>
      </p:sp>
      <p:sp>
        <p:nvSpPr>
          <p:cNvPr id="37" name="TextBox 36"/>
          <p:cNvSpPr txBox="1"/>
          <p:nvPr/>
        </p:nvSpPr>
        <p:spPr>
          <a:xfrm>
            <a:off x="5310213" y="4714610"/>
            <a:ext cx="1571542" cy="122554"/>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refuses on its own</a:t>
            </a:r>
          </a:p>
        </p:txBody>
      </p:sp>
      <p:sp>
        <p:nvSpPr>
          <p:cNvPr id="38" name="Rounded Rectangle 37"/>
          <p:cNvSpPr/>
          <p:nvPr/>
        </p:nvSpPr>
        <p:spPr>
          <a:xfrm>
            <a:off x="7247516" y="3909938"/>
            <a:ext cx="2010454" cy="1128395"/>
          </a:xfrm>
          <a:prstGeom prst="roundRect">
            <a:avLst>
              <a:gd name="adj" fmla="val 3500"/>
            </a:avLst>
          </a:prstGeom>
          <a:solidFill>
            <a:srgbClr val="FBF6F1"/>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66972" y="4147682"/>
            <a:ext cx="1571542" cy="201168"/>
          </a:xfrm>
          <a:prstGeom prst="rect">
            <a:avLst/>
          </a:prstGeom>
          <a:noFill/>
        </p:spPr>
        <p:txBody>
          <a:bodyPr wrap="square" anchor="t" lIns="0" rIns="0" tIns="0" bIns="0">
            <a:spAutoFit/>
          </a:bodyPr>
          <a:lstStyle/>
          <a:p>
            <a:pPr algn="l">
              <a:lnSpc>
                <a:spcPct val="118000"/>
              </a:lnSpc>
            </a:pPr>
            <a:r>
              <a:rPr sz="1000" b="1" i="0">
                <a:solidFill>
                  <a:srgbClr val="B0754A"/>
                </a:solidFill>
                <a:latin typeface="Calibri"/>
              </a:rPr>
              <a:t>8</a:t>
            </a:r>
          </a:p>
        </p:txBody>
      </p:sp>
      <p:sp>
        <p:nvSpPr>
          <p:cNvPr id="40" name="TextBox 39"/>
          <p:cNvSpPr txBox="1"/>
          <p:nvPr/>
        </p:nvSpPr>
        <p:spPr>
          <a:xfrm>
            <a:off x="7466972" y="4403714"/>
            <a:ext cx="1571542" cy="274320"/>
          </a:xfrm>
          <a:prstGeom prst="rect">
            <a:avLst/>
          </a:prstGeom>
          <a:noFill/>
        </p:spPr>
        <p:txBody>
          <a:bodyPr wrap="square" anchor="t" lIns="0" rIns="0" tIns="0" bIns="0">
            <a:spAutoFit/>
          </a:bodyPr>
          <a:lstStyle/>
          <a:p>
            <a:pPr algn="l">
              <a:lnSpc>
                <a:spcPct val="118000"/>
              </a:lnSpc>
            </a:pPr>
            <a:r>
              <a:rPr sz="1350" b="1" i="0">
                <a:solidFill>
                  <a:srgbClr val="101614"/>
                </a:solidFill>
                <a:latin typeface="Calibri"/>
              </a:rPr>
              <a:t>Close-out</a:t>
            </a:r>
          </a:p>
        </p:txBody>
      </p:sp>
      <p:sp>
        <p:nvSpPr>
          <p:cNvPr id="41" name="TextBox 40"/>
          <p:cNvSpPr txBox="1"/>
          <p:nvPr/>
        </p:nvSpPr>
        <p:spPr>
          <a:xfrm>
            <a:off x="7466972" y="4714610"/>
            <a:ext cx="1571542" cy="122554"/>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refuses on its own</a:t>
            </a:r>
          </a:p>
        </p:txBody>
      </p:sp>
      <p:sp>
        <p:nvSpPr>
          <p:cNvPr id="42" name="TextBox 41"/>
          <p:cNvSpPr txBox="1"/>
          <p:nvPr/>
        </p:nvSpPr>
        <p:spPr>
          <a:xfrm>
            <a:off x="777240" y="5312653"/>
            <a:ext cx="10637489" cy="548640"/>
          </a:xfrm>
          <a:prstGeom prst="rect">
            <a:avLst/>
          </a:prstGeom>
          <a:noFill/>
        </p:spPr>
        <p:txBody>
          <a:bodyPr wrap="square" anchor="t" lIns="0" rIns="0" tIns="0" bIns="0">
            <a:spAutoFit/>
          </a:bodyPr>
          <a:lstStyle/>
          <a:p>
            <a:pPr algn="l">
              <a:lnSpc>
                <a:spcPct val="118000"/>
              </a:lnSpc>
            </a:pPr>
            <a:r>
              <a:rPr sz="1150" b="0" i="1">
                <a:solidFill>
                  <a:srgbClr val="6B7873"/>
                </a:solidFill>
                <a:latin typeface="Calibri"/>
              </a:rPr>
              <a:t>Three stages run without supervision, three refuse on their own terms, two are judgment, and one is still to build. The shape is the point: the places a person is needed are few, and they are the same in every market.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1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58368"/>
            <a:ext cx="10637489" cy="201168"/>
          </a:xfrm>
          <a:prstGeom prst="rect">
            <a:avLst/>
          </a:prstGeom>
          <a:noFill/>
        </p:spPr>
        <p:txBody>
          <a:bodyPr wrap="square" anchor="t" lIns="0" rIns="0" tIns="0" bIns="0">
            <a:spAutoFit/>
          </a:bodyPr>
          <a:lstStyle/>
          <a:p>
            <a:pPr algn="l">
              <a:lnSpc>
                <a:spcPct val="118000"/>
              </a:lnSpc>
            </a:pPr>
            <a:r>
              <a:rPr sz="1000" b="1" i="0">
                <a:solidFill>
                  <a:srgbClr val="6B7873"/>
                </a:solidFill>
                <a:latin typeface="Calibri"/>
              </a:rPr>
              <a:t>WHY A NEW TEAM CAN BE TRUSTED WITH IT</a:t>
            </a:r>
          </a:p>
        </p:txBody>
      </p:sp>
      <p:sp>
        <p:nvSpPr>
          <p:cNvPr id="4" name="TextBox 3"/>
          <p:cNvSpPr txBox="1"/>
          <p:nvPr/>
        </p:nvSpPr>
        <p:spPr>
          <a:xfrm>
            <a:off x="777240" y="932688"/>
            <a:ext cx="10180289" cy="544576"/>
          </a:xfrm>
          <a:prstGeom prst="rect">
            <a:avLst/>
          </a:prstGeom>
          <a:noFill/>
        </p:spPr>
        <p:txBody>
          <a:bodyPr wrap="square" anchor="t" lIns="0" rIns="0" tIns="0" bIns="0">
            <a:spAutoFit/>
          </a:bodyPr>
          <a:lstStyle/>
          <a:p>
            <a:pPr algn="l">
              <a:lnSpc>
                <a:spcPct val="118000"/>
              </a:lnSpc>
            </a:pPr>
            <a:r>
              <a:rPr sz="3200" b="0" i="0">
                <a:solidFill>
                  <a:srgbClr val="101614"/>
                </a:solidFill>
                <a:latin typeface="Cambria"/>
              </a:rPr>
              <a:t>Four stages refuse on their own terms</a:t>
            </a:r>
          </a:p>
        </p:txBody>
      </p:sp>
      <p:sp>
        <p:nvSpPr>
          <p:cNvPr id="5" name="Oval 4"/>
          <p:cNvSpPr/>
          <p:nvPr/>
        </p:nvSpPr>
        <p:spPr>
          <a:xfrm>
            <a:off x="11140409" y="1122679"/>
            <a:ext cx="164592" cy="164592"/>
          </a:xfrm>
          <a:prstGeom prst="ellipse">
            <a:avLst/>
          </a:prstGeom>
          <a:solidFill>
            <a:srgbClr val="7E9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2376937"/>
            <a:ext cx="2481064" cy="2030095"/>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2669545"/>
            <a:ext cx="137160" cy="137160"/>
          </a:xfrm>
          <a:prstGeom prst="ellipse">
            <a:avLst/>
          </a:prstGeom>
          <a:solidFill>
            <a:srgbClr val="7E9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943865"/>
            <a:ext cx="1932424" cy="274320"/>
          </a:xfrm>
          <a:prstGeom prst="rect">
            <a:avLst/>
          </a:prstGeom>
          <a:noFill/>
        </p:spPr>
        <p:txBody>
          <a:bodyPr wrap="square" anchor="t" lIns="0" rIns="0" tIns="0" bIns="0">
            <a:spAutoFit/>
          </a:bodyPr>
          <a:lstStyle/>
          <a:p>
            <a:pPr algn="l">
              <a:lnSpc>
                <a:spcPct val="118000"/>
              </a:lnSpc>
            </a:pPr>
            <a:r>
              <a:rPr sz="1450" b="1" i="0">
                <a:solidFill>
                  <a:srgbClr val="1E2A27"/>
                </a:solidFill>
                <a:latin typeface="Calibri"/>
              </a:rPr>
              <a:t>Evidence</a:t>
            </a:r>
          </a:p>
        </p:txBody>
      </p:sp>
      <p:sp>
        <p:nvSpPr>
          <p:cNvPr id="9" name="TextBox 8"/>
          <p:cNvSpPr txBox="1"/>
          <p:nvPr/>
        </p:nvSpPr>
        <p:spPr>
          <a:xfrm>
            <a:off x="1051560" y="3273049"/>
            <a:ext cx="1932424" cy="887095"/>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Every recording's claims reach the register, and the statement that they do is a number rather than an impression.</a:t>
            </a:r>
          </a:p>
        </p:txBody>
      </p:sp>
      <p:sp>
        <p:nvSpPr>
          <p:cNvPr id="10" name="Rounded Rectangle 9"/>
          <p:cNvSpPr/>
          <p:nvPr/>
        </p:nvSpPr>
        <p:spPr>
          <a:xfrm>
            <a:off x="3496048" y="2376937"/>
            <a:ext cx="2481064" cy="2030095"/>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770368" y="2669545"/>
            <a:ext cx="137160" cy="137160"/>
          </a:xfrm>
          <a:prstGeom prst="ellipse">
            <a:avLst/>
          </a:prstGeom>
          <a:solidFill>
            <a:srgbClr val="7E9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70368" y="2943865"/>
            <a:ext cx="1932424" cy="274320"/>
          </a:xfrm>
          <a:prstGeom prst="rect">
            <a:avLst/>
          </a:prstGeom>
          <a:noFill/>
        </p:spPr>
        <p:txBody>
          <a:bodyPr wrap="square" anchor="t" lIns="0" rIns="0" tIns="0" bIns="0">
            <a:spAutoFit/>
          </a:bodyPr>
          <a:lstStyle/>
          <a:p>
            <a:pPr algn="l">
              <a:lnSpc>
                <a:spcPct val="118000"/>
              </a:lnSpc>
            </a:pPr>
            <a:r>
              <a:rPr sz="1450" b="1" i="0">
                <a:solidFill>
                  <a:srgbClr val="1E2A27"/>
                </a:solidFill>
                <a:latin typeface="Calibri"/>
              </a:rPr>
              <a:t>Shortlist</a:t>
            </a:r>
          </a:p>
        </p:txBody>
      </p:sp>
      <p:sp>
        <p:nvSpPr>
          <p:cNvPr id="13" name="TextBox 12"/>
          <p:cNvSpPr txBox="1"/>
          <p:nvPr/>
        </p:nvSpPr>
        <p:spPr>
          <a:xfrm>
            <a:off x="3770368" y="3273049"/>
            <a:ext cx="1932424" cy="887095"/>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Every quotation that reaches a client surface resolves back to a recording and a timecode in one step.</a:t>
            </a:r>
          </a:p>
        </p:txBody>
      </p:sp>
      <p:sp>
        <p:nvSpPr>
          <p:cNvPr id="14" name="Rounded Rectangle 13"/>
          <p:cNvSpPr/>
          <p:nvPr/>
        </p:nvSpPr>
        <p:spPr>
          <a:xfrm>
            <a:off x="6214856" y="2376937"/>
            <a:ext cx="2481064" cy="2030095"/>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89176" y="2669545"/>
            <a:ext cx="137160" cy="137160"/>
          </a:xfrm>
          <a:prstGeom prst="ellipse">
            <a:avLst/>
          </a:prstGeom>
          <a:solidFill>
            <a:srgbClr val="7E9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89176" y="2943865"/>
            <a:ext cx="1932424" cy="274320"/>
          </a:xfrm>
          <a:prstGeom prst="rect">
            <a:avLst/>
          </a:prstGeom>
          <a:noFill/>
        </p:spPr>
        <p:txBody>
          <a:bodyPr wrap="square" anchor="t" lIns="0" rIns="0" tIns="0" bIns="0">
            <a:spAutoFit/>
          </a:bodyPr>
          <a:lstStyle/>
          <a:p>
            <a:pPr algn="l">
              <a:lnSpc>
                <a:spcPct val="118000"/>
              </a:lnSpc>
            </a:pPr>
            <a:r>
              <a:rPr sz="1450" b="1" i="0">
                <a:solidFill>
                  <a:srgbClr val="1E2A27"/>
                </a:solidFill>
                <a:latin typeface="Calibri"/>
              </a:rPr>
              <a:t>Checks</a:t>
            </a:r>
          </a:p>
        </p:txBody>
      </p:sp>
      <p:sp>
        <p:nvSpPr>
          <p:cNvPr id="17" name="TextBox 16"/>
          <p:cNvSpPr txBox="1"/>
          <p:nvPr/>
        </p:nvSpPr>
        <p:spPr>
          <a:xfrm>
            <a:off x="6489176" y="3273049"/>
            <a:ext cx="1932424" cy="887095"/>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Plant one fault of each kind in a fresh engagement and watch every check refuse it.</a:t>
            </a:r>
          </a:p>
        </p:txBody>
      </p:sp>
      <p:sp>
        <p:nvSpPr>
          <p:cNvPr id="18" name="Rounded Rectangle 17"/>
          <p:cNvSpPr/>
          <p:nvPr/>
        </p:nvSpPr>
        <p:spPr>
          <a:xfrm>
            <a:off x="8933665" y="2376937"/>
            <a:ext cx="2481064" cy="2030095"/>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207985" y="2669545"/>
            <a:ext cx="137160" cy="137160"/>
          </a:xfrm>
          <a:prstGeom prst="ellipse">
            <a:avLst/>
          </a:prstGeom>
          <a:solidFill>
            <a:srgbClr val="7E9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7985" y="2943865"/>
            <a:ext cx="1932424" cy="274320"/>
          </a:xfrm>
          <a:prstGeom prst="rect">
            <a:avLst/>
          </a:prstGeom>
          <a:noFill/>
        </p:spPr>
        <p:txBody>
          <a:bodyPr wrap="square" anchor="t" lIns="0" rIns="0" tIns="0" bIns="0">
            <a:spAutoFit/>
          </a:bodyPr>
          <a:lstStyle/>
          <a:p>
            <a:pPr algn="l">
              <a:lnSpc>
                <a:spcPct val="118000"/>
              </a:lnSpc>
            </a:pPr>
            <a:r>
              <a:rPr sz="1450" b="1" i="0">
                <a:solidFill>
                  <a:srgbClr val="1E2A27"/>
                </a:solidFill>
                <a:latin typeface="Calibri"/>
              </a:rPr>
              <a:t>Close-out</a:t>
            </a:r>
          </a:p>
        </p:txBody>
      </p:sp>
      <p:sp>
        <p:nvSpPr>
          <p:cNvPr id="21" name="TextBox 20"/>
          <p:cNvSpPr txBox="1"/>
          <p:nvPr/>
        </p:nvSpPr>
        <p:spPr>
          <a:xfrm>
            <a:off x="9207985" y="3273049"/>
            <a:ext cx="1932424" cy="887095"/>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A market cannot be closed while its learnings are missing or unclassed.</a:t>
            </a:r>
          </a:p>
        </p:txBody>
      </p:sp>
      <p:sp>
        <p:nvSpPr>
          <p:cNvPr id="22" name="TextBox 21"/>
          <p:cNvSpPr txBox="1"/>
          <p:nvPr/>
        </p:nvSpPr>
        <p:spPr>
          <a:xfrm>
            <a:off x="777240" y="4736216"/>
            <a:ext cx="10637489" cy="457200"/>
          </a:xfrm>
          <a:prstGeom prst="rect">
            <a:avLst/>
          </a:prstGeom>
          <a:noFill/>
        </p:spPr>
        <p:txBody>
          <a:bodyPr wrap="square" anchor="t" lIns="0" rIns="0" tIns="0" bIns="0">
            <a:spAutoFit/>
          </a:bodyPr>
          <a:lstStyle/>
          <a:p>
            <a:pPr algn="l">
              <a:lnSpc>
                <a:spcPct val="118000"/>
              </a:lnSpc>
            </a:pPr>
            <a:r>
              <a:rPr sz="1700" b="0" i="0">
                <a:solidFill>
                  <a:srgbClr val="1E2A27"/>
                </a:solidFill>
                <a:latin typeface="Calibri"/>
              </a:rPr>
              <a:t>Each of these is a test the work has to pass, not a note somebody is asked to remember.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58368"/>
            <a:ext cx="10637489" cy="201168"/>
          </a:xfrm>
          <a:prstGeom prst="rect">
            <a:avLst/>
          </a:prstGeom>
          <a:noFill/>
        </p:spPr>
        <p:txBody>
          <a:bodyPr wrap="square" anchor="t" lIns="0" rIns="0" tIns="0" bIns="0">
            <a:spAutoFit/>
          </a:bodyPr>
          <a:lstStyle/>
          <a:p>
            <a:pPr algn="l">
              <a:lnSpc>
                <a:spcPct val="118000"/>
              </a:lnSpc>
            </a:pPr>
            <a:r>
              <a:rPr sz="1000" b="1" i="0">
                <a:solidFill>
                  <a:srgbClr val="6B7873"/>
                </a:solidFill>
                <a:latin typeface="Calibri"/>
              </a:rPr>
              <a:t>WHERE A PERSON IS NEEDED</a:t>
            </a:r>
          </a:p>
        </p:txBody>
      </p:sp>
      <p:sp>
        <p:nvSpPr>
          <p:cNvPr id="4" name="TextBox 3"/>
          <p:cNvSpPr txBox="1"/>
          <p:nvPr/>
        </p:nvSpPr>
        <p:spPr>
          <a:xfrm>
            <a:off x="777240" y="932688"/>
            <a:ext cx="10180289" cy="544576"/>
          </a:xfrm>
          <a:prstGeom prst="rect">
            <a:avLst/>
          </a:prstGeom>
          <a:noFill/>
        </p:spPr>
        <p:txBody>
          <a:bodyPr wrap="square" anchor="t" lIns="0" rIns="0" tIns="0" bIns="0">
            <a:spAutoFit/>
          </a:bodyPr>
          <a:lstStyle/>
          <a:p>
            <a:pPr algn="l">
              <a:lnSpc>
                <a:spcPct val="118000"/>
              </a:lnSpc>
            </a:pPr>
            <a:r>
              <a:rPr sz="3200" b="0" i="0">
                <a:solidFill>
                  <a:srgbClr val="101614"/>
                </a:solidFill>
                <a:latin typeface="Cambria"/>
              </a:rPr>
              <a:t>Four roles, and only one is hard</a:t>
            </a:r>
          </a:p>
        </p:txBody>
      </p:sp>
      <p:sp>
        <p:nvSpPr>
          <p:cNvPr id="5" name="Oval 4"/>
          <p:cNvSpPr/>
          <p:nvPr/>
        </p:nvSpPr>
        <p:spPr>
          <a:xfrm>
            <a:off x="11140409" y="1122679"/>
            <a:ext cx="164592" cy="164592"/>
          </a:xfrm>
          <a:prstGeom prst="ellipse">
            <a:avLst/>
          </a:prstGeom>
          <a:solidFill>
            <a:srgbClr val="7E9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2353579"/>
            <a:ext cx="2481064" cy="2167255"/>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646187"/>
            <a:ext cx="1932424" cy="292608"/>
          </a:xfrm>
          <a:prstGeom prst="rect">
            <a:avLst/>
          </a:prstGeom>
          <a:noFill/>
        </p:spPr>
        <p:txBody>
          <a:bodyPr wrap="square" anchor="t" lIns="0" rIns="0" tIns="0" bIns="0">
            <a:spAutoFit/>
          </a:bodyPr>
          <a:lstStyle/>
          <a:p>
            <a:pPr algn="l">
              <a:lnSpc>
                <a:spcPct val="118000"/>
              </a:lnSpc>
            </a:pPr>
            <a:r>
              <a:rPr sz="1450" b="1" i="0">
                <a:solidFill>
                  <a:srgbClr val="101614"/>
                </a:solidFill>
                <a:latin typeface="Calibri"/>
              </a:rPr>
              <a:t>Market lead</a:t>
            </a:r>
          </a:p>
        </p:txBody>
      </p:sp>
      <p:sp>
        <p:nvSpPr>
          <p:cNvPr id="8" name="TextBox 7"/>
          <p:cNvSpPr txBox="1"/>
          <p:nvPr/>
        </p:nvSpPr>
        <p:spPr>
          <a:xfrm>
            <a:off x="1051560" y="3048523"/>
            <a:ext cx="1932424" cy="795655"/>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The rooms, the reading, and the judgment about what a town is actually saying.</a:t>
            </a:r>
          </a:p>
        </p:txBody>
      </p:sp>
      <p:sp>
        <p:nvSpPr>
          <p:cNvPr id="9" name="TextBox 8"/>
          <p:cNvSpPr txBox="1"/>
          <p:nvPr/>
        </p:nvSpPr>
        <p:spPr>
          <a:xfrm>
            <a:off x="1051560" y="3953906"/>
            <a:ext cx="1932424" cy="457200"/>
          </a:xfrm>
          <a:prstGeom prst="rect">
            <a:avLst/>
          </a:prstGeom>
          <a:noFill/>
        </p:spPr>
        <p:txBody>
          <a:bodyPr wrap="square" anchor="t" lIns="0" rIns="0" tIns="0" bIns="0">
            <a:spAutoFit/>
          </a:bodyPr>
          <a:lstStyle/>
          <a:p>
            <a:pPr algn="l">
              <a:lnSpc>
                <a:spcPct val="118000"/>
              </a:lnSpc>
            </a:pPr>
            <a:r>
              <a:rPr sz="1150" b="0" i="1">
                <a:solidFill>
                  <a:srgbClr val="B0754A"/>
                </a:solidFill>
                <a:latin typeface="Calibri"/>
              </a:rPr>
              <a:t>Recruited and certified</a:t>
            </a:r>
          </a:p>
        </p:txBody>
      </p:sp>
      <p:sp>
        <p:nvSpPr>
          <p:cNvPr id="10" name="Rounded Rectangle 9"/>
          <p:cNvSpPr/>
          <p:nvPr/>
        </p:nvSpPr>
        <p:spPr>
          <a:xfrm>
            <a:off x="3496048" y="2353579"/>
            <a:ext cx="2481064" cy="2167255"/>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70368" y="2646187"/>
            <a:ext cx="1932424" cy="292608"/>
          </a:xfrm>
          <a:prstGeom prst="rect">
            <a:avLst/>
          </a:prstGeom>
          <a:noFill/>
        </p:spPr>
        <p:txBody>
          <a:bodyPr wrap="square" anchor="t" lIns="0" rIns="0" tIns="0" bIns="0">
            <a:spAutoFit/>
          </a:bodyPr>
          <a:lstStyle/>
          <a:p>
            <a:pPr algn="l">
              <a:lnSpc>
                <a:spcPct val="118000"/>
              </a:lnSpc>
            </a:pPr>
            <a:r>
              <a:rPr sz="1450" b="1" i="0">
                <a:solidFill>
                  <a:srgbClr val="101614"/>
                </a:solidFill>
                <a:latin typeface="Calibri"/>
              </a:rPr>
              <a:t>Evidence operator</a:t>
            </a:r>
          </a:p>
        </p:txBody>
      </p:sp>
      <p:sp>
        <p:nvSpPr>
          <p:cNvPr id="12" name="TextBox 11"/>
          <p:cNvSpPr txBox="1"/>
          <p:nvPr/>
        </p:nvSpPr>
        <p:spPr>
          <a:xfrm>
            <a:off x="3770368" y="3048523"/>
            <a:ext cx="1932424" cy="795655"/>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The intake pipeline, the routine adjudications, and the escalations.</a:t>
            </a:r>
          </a:p>
        </p:txBody>
      </p:sp>
      <p:sp>
        <p:nvSpPr>
          <p:cNvPr id="13" name="TextBox 12"/>
          <p:cNvSpPr txBox="1"/>
          <p:nvPr/>
        </p:nvSpPr>
        <p:spPr>
          <a:xfrm>
            <a:off x="3770368" y="3953906"/>
            <a:ext cx="1932424" cy="457200"/>
          </a:xfrm>
          <a:prstGeom prst="rect">
            <a:avLst/>
          </a:prstGeom>
          <a:noFill/>
        </p:spPr>
        <p:txBody>
          <a:bodyPr wrap="square" anchor="t" lIns="0" rIns="0" tIns="0" bIns="0">
            <a:spAutoFit/>
          </a:bodyPr>
          <a:lstStyle/>
          <a:p>
            <a:pPr algn="l">
              <a:lnSpc>
                <a:spcPct val="118000"/>
              </a:lnSpc>
            </a:pPr>
            <a:r>
              <a:rPr sz="1150" b="0" i="1">
                <a:solidFill>
                  <a:srgbClr val="B0754A"/>
                </a:solidFill>
                <a:latin typeface="Calibri"/>
              </a:rPr>
              <a:t>Recruited and trained on the checks</a:t>
            </a:r>
          </a:p>
        </p:txBody>
      </p:sp>
      <p:sp>
        <p:nvSpPr>
          <p:cNvPr id="14" name="Rounded Rectangle 13"/>
          <p:cNvSpPr/>
          <p:nvPr/>
        </p:nvSpPr>
        <p:spPr>
          <a:xfrm>
            <a:off x="6214856" y="2353579"/>
            <a:ext cx="2481064" cy="2167255"/>
          </a:xfrm>
          <a:prstGeom prst="roundRect">
            <a:avLst>
              <a:gd name="adj" fmla="val 3500"/>
            </a:avLst>
          </a:prstGeom>
          <a:solidFill>
            <a:srgbClr val="1E2A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9176" y="2646187"/>
            <a:ext cx="1932424" cy="292608"/>
          </a:xfrm>
          <a:prstGeom prst="rect">
            <a:avLst/>
          </a:prstGeom>
          <a:noFill/>
        </p:spPr>
        <p:txBody>
          <a:bodyPr wrap="square" anchor="t" lIns="0" rIns="0" tIns="0" bIns="0">
            <a:spAutoFit/>
          </a:bodyPr>
          <a:lstStyle/>
          <a:p>
            <a:pPr algn="l">
              <a:lnSpc>
                <a:spcPct val="118000"/>
              </a:lnSpc>
            </a:pPr>
            <a:r>
              <a:rPr sz="1450" b="1" i="0">
                <a:solidFill>
                  <a:srgbClr val="FBFAF8"/>
                </a:solidFill>
                <a:latin typeface="Calibri"/>
              </a:rPr>
              <a:t>Standards</a:t>
            </a:r>
          </a:p>
        </p:txBody>
      </p:sp>
      <p:sp>
        <p:nvSpPr>
          <p:cNvPr id="16" name="TextBox 15"/>
          <p:cNvSpPr txBox="1"/>
          <p:nvPr/>
        </p:nvSpPr>
        <p:spPr>
          <a:xfrm>
            <a:off x="6489176" y="3048523"/>
            <a:ext cx="1932424" cy="795655"/>
          </a:xfrm>
          <a:prstGeom prst="rect">
            <a:avLst/>
          </a:prstGeom>
          <a:noFill/>
        </p:spPr>
        <p:txBody>
          <a:bodyPr wrap="square" anchor="t" lIns="0" rIns="0" tIns="0" bIns="0">
            <a:spAutoFit/>
          </a:bodyPr>
          <a:lstStyle/>
          <a:p>
            <a:pPr algn="l">
              <a:lnSpc>
                <a:spcPct val="118000"/>
              </a:lnSpc>
            </a:pPr>
            <a:r>
              <a:rPr sz="1150" b="0" i="0">
                <a:solidFill>
                  <a:srgbClr val="F1F4EE"/>
                </a:solidFill>
                <a:latin typeface="Calibri"/>
              </a:rPr>
              <a:t>The checks, the close-out, the contested rows, and the instruments themselves.</a:t>
            </a:r>
          </a:p>
        </p:txBody>
      </p:sp>
      <p:sp>
        <p:nvSpPr>
          <p:cNvPr id="17" name="TextBox 16"/>
          <p:cNvSpPr txBox="1"/>
          <p:nvPr/>
        </p:nvSpPr>
        <p:spPr>
          <a:xfrm>
            <a:off x="6489176" y="3953906"/>
            <a:ext cx="1932424" cy="457200"/>
          </a:xfrm>
          <a:prstGeom prst="rect">
            <a:avLst/>
          </a:prstGeom>
          <a:noFill/>
        </p:spPr>
        <p:txBody>
          <a:bodyPr wrap="square" anchor="t" lIns="0" rIns="0" tIns="0" bIns="0">
            <a:spAutoFit/>
          </a:bodyPr>
          <a:lstStyle/>
          <a:p>
            <a:pPr algn="l">
              <a:lnSpc>
                <a:spcPct val="118000"/>
              </a:lnSpc>
            </a:pPr>
            <a:r>
              <a:rPr sz="1150" b="0" i="1">
                <a:solidFill>
                  <a:srgbClr val="A8BC80"/>
                </a:solidFill>
                <a:latin typeface="Calibri"/>
              </a:rPr>
              <a:t>The role to design down, not to duplicate</a:t>
            </a:r>
          </a:p>
        </p:txBody>
      </p:sp>
      <p:sp>
        <p:nvSpPr>
          <p:cNvPr id="18" name="Rounded Rectangle 17"/>
          <p:cNvSpPr/>
          <p:nvPr/>
        </p:nvSpPr>
        <p:spPr>
          <a:xfrm>
            <a:off x="8933665" y="2353579"/>
            <a:ext cx="2481064" cy="2167255"/>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07985" y="2646187"/>
            <a:ext cx="1932424" cy="292608"/>
          </a:xfrm>
          <a:prstGeom prst="rect">
            <a:avLst/>
          </a:prstGeom>
          <a:noFill/>
        </p:spPr>
        <p:txBody>
          <a:bodyPr wrap="square" anchor="t" lIns="0" rIns="0" tIns="0" bIns="0">
            <a:spAutoFit/>
          </a:bodyPr>
          <a:lstStyle/>
          <a:p>
            <a:pPr algn="l">
              <a:lnSpc>
                <a:spcPct val="118000"/>
              </a:lnSpc>
            </a:pPr>
            <a:r>
              <a:rPr sz="1450" b="1" i="0">
                <a:solidFill>
                  <a:srgbClr val="101614"/>
                </a:solidFill>
                <a:latin typeface="Calibri"/>
              </a:rPr>
              <a:t>Client and commercial</a:t>
            </a:r>
          </a:p>
        </p:txBody>
      </p:sp>
      <p:sp>
        <p:nvSpPr>
          <p:cNvPr id="20" name="TextBox 19"/>
          <p:cNvSpPr txBox="1"/>
          <p:nvPr/>
        </p:nvSpPr>
        <p:spPr>
          <a:xfrm>
            <a:off x="9207985" y="3048523"/>
            <a:ext cx="1932424" cy="795655"/>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The relationship, the scope, the room.</a:t>
            </a:r>
          </a:p>
        </p:txBody>
      </p:sp>
      <p:sp>
        <p:nvSpPr>
          <p:cNvPr id="21" name="TextBox 20"/>
          <p:cNvSpPr txBox="1"/>
          <p:nvPr/>
        </p:nvSpPr>
        <p:spPr>
          <a:xfrm>
            <a:off x="9207985" y="3953906"/>
            <a:ext cx="1932424" cy="457200"/>
          </a:xfrm>
          <a:prstGeom prst="rect">
            <a:avLst/>
          </a:prstGeom>
          <a:noFill/>
        </p:spPr>
        <p:txBody>
          <a:bodyPr wrap="square" anchor="t" lIns="0" rIns="0" tIns="0" bIns="0">
            <a:spAutoFit/>
          </a:bodyPr>
          <a:lstStyle/>
          <a:p>
            <a:pPr algn="l">
              <a:lnSpc>
                <a:spcPct val="118000"/>
              </a:lnSpc>
            </a:pPr>
            <a:r>
              <a:rPr sz="1150" b="0" i="1">
                <a:solidFill>
                  <a:srgbClr val="B0754A"/>
                </a:solidFill>
                <a:latin typeface="Calibri"/>
              </a:rPr>
              <a:t>Already in place</a:t>
            </a:r>
          </a:p>
        </p:txBody>
      </p:sp>
      <p:sp>
        <p:nvSpPr>
          <p:cNvPr id="22" name="TextBox 21"/>
          <p:cNvSpPr txBox="1"/>
          <p:nvPr/>
        </p:nvSpPr>
        <p:spPr>
          <a:xfrm>
            <a:off x="777240" y="4831730"/>
            <a:ext cx="10637489" cy="640080"/>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Three of these are recruited. The fourth is the one to be careful about, and the answer is not another person like it. Every judgment that currently sits in the standards role is a piece of work: move it into a check, and it stops needing to be a role at all in the market after that.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B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58368"/>
            <a:ext cx="10637489" cy="201168"/>
          </a:xfrm>
          <a:prstGeom prst="rect">
            <a:avLst/>
          </a:prstGeom>
          <a:noFill/>
        </p:spPr>
        <p:txBody>
          <a:bodyPr wrap="square" anchor="t" lIns="0" rIns="0" tIns="0" bIns="0">
            <a:spAutoFit/>
          </a:bodyPr>
          <a:lstStyle/>
          <a:p>
            <a:pPr algn="l">
              <a:lnSpc>
                <a:spcPct val="118000"/>
              </a:lnSpc>
            </a:pPr>
            <a:r>
              <a:rPr sz="1000" b="1" i="0">
                <a:solidFill>
                  <a:srgbClr val="6B7873"/>
                </a:solidFill>
                <a:latin typeface="Calibri"/>
              </a:rPr>
              <a:t>BEFORE A SECOND TEAM RUNS A MARKET</a:t>
            </a:r>
          </a:p>
        </p:txBody>
      </p:sp>
      <p:sp>
        <p:nvSpPr>
          <p:cNvPr id="4" name="TextBox 3"/>
          <p:cNvSpPr txBox="1"/>
          <p:nvPr/>
        </p:nvSpPr>
        <p:spPr>
          <a:xfrm>
            <a:off x="777240" y="932688"/>
            <a:ext cx="10180289" cy="544576"/>
          </a:xfrm>
          <a:prstGeom prst="rect">
            <a:avLst/>
          </a:prstGeom>
          <a:noFill/>
        </p:spPr>
        <p:txBody>
          <a:bodyPr wrap="square" anchor="t" lIns="0" rIns="0" tIns="0" bIns="0">
            <a:spAutoFit/>
          </a:bodyPr>
          <a:lstStyle/>
          <a:p>
            <a:pPr algn="l">
              <a:lnSpc>
                <a:spcPct val="118000"/>
              </a:lnSpc>
            </a:pPr>
            <a:r>
              <a:rPr sz="3200" b="0" i="0">
                <a:solidFill>
                  <a:srgbClr val="101614"/>
                </a:solidFill>
                <a:latin typeface="Cambria"/>
              </a:rPr>
              <a:t>Five things have to be true</a:t>
            </a:r>
          </a:p>
        </p:txBody>
      </p:sp>
      <p:sp>
        <p:nvSpPr>
          <p:cNvPr id="5" name="Oval 4"/>
          <p:cNvSpPr/>
          <p:nvPr/>
        </p:nvSpPr>
        <p:spPr>
          <a:xfrm>
            <a:off x="11140409" y="1122679"/>
            <a:ext cx="164592" cy="164592"/>
          </a:xfrm>
          <a:prstGeom prst="ellipse">
            <a:avLst/>
          </a:prstGeom>
          <a:solidFill>
            <a:srgbClr val="7E9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751584"/>
            <a:ext cx="5209016" cy="1162431"/>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1989328"/>
            <a:ext cx="457200" cy="274320"/>
          </a:xfrm>
          <a:prstGeom prst="rect">
            <a:avLst/>
          </a:prstGeom>
          <a:noFill/>
        </p:spPr>
        <p:txBody>
          <a:bodyPr wrap="square" anchor="t" lIns="0" rIns="0" tIns="0" bIns="0">
            <a:spAutoFit/>
          </a:bodyPr>
          <a:lstStyle/>
          <a:p>
            <a:pPr algn="l">
              <a:lnSpc>
                <a:spcPct val="118000"/>
              </a:lnSpc>
            </a:pPr>
            <a:r>
              <a:rPr sz="1950" b="0" i="0">
                <a:solidFill>
                  <a:srgbClr val="B0754A"/>
                </a:solidFill>
                <a:latin typeface="Cambria"/>
              </a:rPr>
              <a:t>1</a:t>
            </a:r>
          </a:p>
        </p:txBody>
      </p:sp>
      <p:sp>
        <p:nvSpPr>
          <p:cNvPr id="8" name="TextBox 7"/>
          <p:cNvSpPr txBox="1"/>
          <p:nvPr/>
        </p:nvSpPr>
        <p:spPr>
          <a:xfrm>
            <a:off x="1581912" y="2025904"/>
            <a:ext cx="4066016" cy="229742"/>
          </a:xfrm>
          <a:prstGeom prst="rect">
            <a:avLst/>
          </a:prstGeom>
          <a:noFill/>
        </p:spPr>
        <p:txBody>
          <a:bodyPr wrap="square" anchor="t" lIns="0" rIns="0" tIns="0" bIns="0">
            <a:spAutoFit/>
          </a:bodyPr>
          <a:lstStyle/>
          <a:p>
            <a:pPr algn="l">
              <a:lnSpc>
                <a:spcPct val="118000"/>
              </a:lnSpc>
            </a:pPr>
            <a:r>
              <a:rPr sz="1350" b="1" i="0">
                <a:solidFill>
                  <a:srgbClr val="101614"/>
                </a:solidFill>
                <a:latin typeface="Calibri"/>
              </a:rPr>
              <a:t>The checks install as one thing</a:t>
            </a:r>
          </a:p>
        </p:txBody>
      </p:sp>
      <p:sp>
        <p:nvSpPr>
          <p:cNvPr id="9" name="TextBox 8"/>
          <p:cNvSpPr txBox="1"/>
          <p:nvPr/>
        </p:nvSpPr>
        <p:spPr>
          <a:xfrm>
            <a:off x="1581912" y="2401951"/>
            <a:ext cx="4066016" cy="310896"/>
          </a:xfrm>
          <a:prstGeom prst="rect">
            <a:avLst/>
          </a:prstGeom>
          <a:noFill/>
        </p:spPr>
        <p:txBody>
          <a:bodyPr wrap="square" anchor="t" lIns="0" rIns="0" tIns="0" bIns="0">
            <a:spAutoFit/>
          </a:bodyPr>
          <a:lstStyle/>
          <a:p>
            <a:pPr algn="l">
              <a:lnSpc>
                <a:spcPct val="118000"/>
              </a:lnSpc>
            </a:pPr>
            <a:r>
              <a:rPr sz="1150" b="0" i="1">
                <a:solidFill>
                  <a:srgbClr val="B0754A"/>
                </a:solidFill>
                <a:latin typeface="Calibri"/>
              </a:rPr>
              <a:t>scoped</a:t>
            </a:r>
          </a:p>
        </p:txBody>
      </p:sp>
      <p:sp>
        <p:nvSpPr>
          <p:cNvPr id="10" name="Rounded Rectangle 9"/>
          <p:cNvSpPr/>
          <p:nvPr/>
        </p:nvSpPr>
        <p:spPr>
          <a:xfrm>
            <a:off x="6205712" y="1751584"/>
            <a:ext cx="5209016" cy="1162431"/>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8320" y="1989328"/>
            <a:ext cx="457200" cy="274320"/>
          </a:xfrm>
          <a:prstGeom prst="rect">
            <a:avLst/>
          </a:prstGeom>
          <a:noFill/>
        </p:spPr>
        <p:txBody>
          <a:bodyPr wrap="square" anchor="t" lIns="0" rIns="0" tIns="0" bIns="0">
            <a:spAutoFit/>
          </a:bodyPr>
          <a:lstStyle/>
          <a:p>
            <a:pPr algn="l">
              <a:lnSpc>
                <a:spcPct val="118000"/>
              </a:lnSpc>
            </a:pPr>
            <a:r>
              <a:rPr sz="1950" b="0" i="0">
                <a:solidFill>
                  <a:srgbClr val="B0754A"/>
                </a:solidFill>
                <a:latin typeface="Cambria"/>
              </a:rPr>
              <a:t>2</a:t>
            </a:r>
          </a:p>
        </p:txBody>
      </p:sp>
      <p:sp>
        <p:nvSpPr>
          <p:cNvPr id="12" name="TextBox 11"/>
          <p:cNvSpPr txBox="1"/>
          <p:nvPr/>
        </p:nvSpPr>
        <p:spPr>
          <a:xfrm>
            <a:off x="7010384" y="2025904"/>
            <a:ext cx="4066016" cy="229742"/>
          </a:xfrm>
          <a:prstGeom prst="rect">
            <a:avLst/>
          </a:prstGeom>
          <a:noFill/>
        </p:spPr>
        <p:txBody>
          <a:bodyPr wrap="square" anchor="t" lIns="0" rIns="0" tIns="0" bIns="0">
            <a:spAutoFit/>
          </a:bodyPr>
          <a:lstStyle/>
          <a:p>
            <a:pPr algn="l">
              <a:lnSpc>
                <a:spcPct val="118000"/>
              </a:lnSpc>
            </a:pPr>
            <a:r>
              <a:rPr sz="1350" b="1" i="0">
                <a:solidFill>
                  <a:srgbClr val="101614"/>
                </a:solidFill>
                <a:latin typeface="Calibri"/>
              </a:rPr>
              <a:t>The close-out refuses without its learnings</a:t>
            </a:r>
          </a:p>
        </p:txBody>
      </p:sp>
      <p:sp>
        <p:nvSpPr>
          <p:cNvPr id="13" name="TextBox 12"/>
          <p:cNvSpPr txBox="1"/>
          <p:nvPr/>
        </p:nvSpPr>
        <p:spPr>
          <a:xfrm>
            <a:off x="7010384" y="2401951"/>
            <a:ext cx="4066016" cy="310896"/>
          </a:xfrm>
          <a:prstGeom prst="rect">
            <a:avLst/>
          </a:prstGeom>
          <a:noFill/>
        </p:spPr>
        <p:txBody>
          <a:bodyPr wrap="square" anchor="t" lIns="0" rIns="0" tIns="0" bIns="0">
            <a:spAutoFit/>
          </a:bodyPr>
          <a:lstStyle/>
          <a:p>
            <a:pPr algn="l">
              <a:lnSpc>
                <a:spcPct val="118000"/>
              </a:lnSpc>
            </a:pPr>
            <a:r>
              <a:rPr sz="1150" b="0" i="1">
                <a:solidFill>
                  <a:srgbClr val="B0754A"/>
                </a:solidFill>
                <a:latin typeface="Calibri"/>
              </a:rPr>
              <a:t>in place</a:t>
            </a:r>
          </a:p>
        </p:txBody>
      </p:sp>
      <p:sp>
        <p:nvSpPr>
          <p:cNvPr id="14" name="Rounded Rectangle 13"/>
          <p:cNvSpPr/>
          <p:nvPr/>
        </p:nvSpPr>
        <p:spPr>
          <a:xfrm>
            <a:off x="777240" y="3133471"/>
            <a:ext cx="5209016" cy="1162431"/>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9848" y="3371215"/>
            <a:ext cx="457200" cy="274320"/>
          </a:xfrm>
          <a:prstGeom prst="rect">
            <a:avLst/>
          </a:prstGeom>
          <a:noFill/>
        </p:spPr>
        <p:txBody>
          <a:bodyPr wrap="square" anchor="t" lIns="0" rIns="0" tIns="0" bIns="0">
            <a:spAutoFit/>
          </a:bodyPr>
          <a:lstStyle/>
          <a:p>
            <a:pPr algn="l">
              <a:lnSpc>
                <a:spcPct val="118000"/>
              </a:lnSpc>
            </a:pPr>
            <a:r>
              <a:rPr sz="1950" b="0" i="0">
                <a:solidFill>
                  <a:srgbClr val="B0754A"/>
                </a:solidFill>
                <a:latin typeface="Cambria"/>
              </a:rPr>
              <a:t>3</a:t>
            </a:r>
          </a:p>
        </p:txBody>
      </p:sp>
      <p:sp>
        <p:nvSpPr>
          <p:cNvPr id="16" name="TextBox 15"/>
          <p:cNvSpPr txBox="1"/>
          <p:nvPr/>
        </p:nvSpPr>
        <p:spPr>
          <a:xfrm>
            <a:off x="1581912" y="3407791"/>
            <a:ext cx="4066016" cy="229742"/>
          </a:xfrm>
          <a:prstGeom prst="rect">
            <a:avLst/>
          </a:prstGeom>
          <a:noFill/>
        </p:spPr>
        <p:txBody>
          <a:bodyPr wrap="square" anchor="t" lIns="0" rIns="0" tIns="0" bIns="0">
            <a:spAutoFit/>
          </a:bodyPr>
          <a:lstStyle/>
          <a:p>
            <a:pPr algn="l">
              <a:lnSpc>
                <a:spcPct val="118000"/>
              </a:lnSpc>
            </a:pPr>
            <a:r>
              <a:rPr sz="1350" b="1" i="0">
                <a:solidFill>
                  <a:srgbClr val="101614"/>
                </a:solidFill>
                <a:latin typeface="Calibri"/>
              </a:rPr>
              <a:t>A market instantiates</a:t>
            </a:r>
          </a:p>
        </p:txBody>
      </p:sp>
      <p:sp>
        <p:nvSpPr>
          <p:cNvPr id="17" name="TextBox 16"/>
          <p:cNvSpPr txBox="1"/>
          <p:nvPr/>
        </p:nvSpPr>
        <p:spPr>
          <a:xfrm>
            <a:off x="1581912" y="3783838"/>
            <a:ext cx="4066016" cy="310896"/>
          </a:xfrm>
          <a:prstGeom prst="rect">
            <a:avLst/>
          </a:prstGeom>
          <a:noFill/>
        </p:spPr>
        <p:txBody>
          <a:bodyPr wrap="square" anchor="t" lIns="0" rIns="0" tIns="0" bIns="0">
            <a:spAutoFit/>
          </a:bodyPr>
          <a:lstStyle/>
          <a:p>
            <a:pPr algn="l">
              <a:lnSpc>
                <a:spcPct val="118000"/>
              </a:lnSpc>
            </a:pPr>
            <a:r>
              <a:rPr sz="1150" b="0" i="1">
                <a:solidFill>
                  <a:srgbClr val="B0754A"/>
                </a:solidFill>
                <a:latin typeface="Calibri"/>
              </a:rPr>
              <a:t>part-built</a:t>
            </a:r>
          </a:p>
        </p:txBody>
      </p:sp>
      <p:sp>
        <p:nvSpPr>
          <p:cNvPr id="18" name="Rounded Rectangle 17"/>
          <p:cNvSpPr/>
          <p:nvPr/>
        </p:nvSpPr>
        <p:spPr>
          <a:xfrm>
            <a:off x="6205712" y="3133471"/>
            <a:ext cx="5209016" cy="1162431"/>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8320" y="3371215"/>
            <a:ext cx="457200" cy="274320"/>
          </a:xfrm>
          <a:prstGeom prst="rect">
            <a:avLst/>
          </a:prstGeom>
          <a:noFill/>
        </p:spPr>
        <p:txBody>
          <a:bodyPr wrap="square" anchor="t" lIns="0" rIns="0" tIns="0" bIns="0">
            <a:spAutoFit/>
          </a:bodyPr>
          <a:lstStyle/>
          <a:p>
            <a:pPr algn="l">
              <a:lnSpc>
                <a:spcPct val="118000"/>
              </a:lnSpc>
            </a:pPr>
            <a:r>
              <a:rPr sz="1950" b="0" i="0">
                <a:solidFill>
                  <a:srgbClr val="B0754A"/>
                </a:solidFill>
                <a:latin typeface="Cambria"/>
              </a:rPr>
              <a:t>4</a:t>
            </a:r>
          </a:p>
        </p:txBody>
      </p:sp>
      <p:sp>
        <p:nvSpPr>
          <p:cNvPr id="20" name="TextBox 19"/>
          <p:cNvSpPr txBox="1"/>
          <p:nvPr/>
        </p:nvSpPr>
        <p:spPr>
          <a:xfrm>
            <a:off x="7010384" y="3407791"/>
            <a:ext cx="4066016" cy="229742"/>
          </a:xfrm>
          <a:prstGeom prst="rect">
            <a:avLst/>
          </a:prstGeom>
          <a:noFill/>
        </p:spPr>
        <p:txBody>
          <a:bodyPr wrap="square" anchor="t" lIns="0" rIns="0" tIns="0" bIns="0">
            <a:spAutoFit/>
          </a:bodyPr>
          <a:lstStyle/>
          <a:p>
            <a:pPr algn="l">
              <a:lnSpc>
                <a:spcPct val="118000"/>
              </a:lnSpc>
            </a:pPr>
            <a:r>
              <a:rPr sz="1350" b="1" i="0">
                <a:solidFill>
                  <a:srgbClr val="101614"/>
                </a:solidFill>
                <a:latin typeface="Calibri"/>
              </a:rPr>
              <a:t>The working practice is written down</a:t>
            </a:r>
          </a:p>
        </p:txBody>
      </p:sp>
      <p:sp>
        <p:nvSpPr>
          <p:cNvPr id="21" name="TextBox 20"/>
          <p:cNvSpPr txBox="1"/>
          <p:nvPr/>
        </p:nvSpPr>
        <p:spPr>
          <a:xfrm>
            <a:off x="7010384" y="3783838"/>
            <a:ext cx="4066016" cy="310896"/>
          </a:xfrm>
          <a:prstGeom prst="rect">
            <a:avLst/>
          </a:prstGeom>
          <a:noFill/>
        </p:spPr>
        <p:txBody>
          <a:bodyPr wrap="square" anchor="t" lIns="0" rIns="0" tIns="0" bIns="0">
            <a:spAutoFit/>
          </a:bodyPr>
          <a:lstStyle/>
          <a:p>
            <a:pPr algn="l">
              <a:lnSpc>
                <a:spcPct val="118000"/>
              </a:lnSpc>
            </a:pPr>
            <a:r>
              <a:rPr sz="1150" b="0" i="1">
                <a:solidFill>
                  <a:srgbClr val="B0754A"/>
                </a:solidFill>
                <a:latin typeface="Calibri"/>
              </a:rPr>
              <a:t>scoped</a:t>
            </a:r>
          </a:p>
        </p:txBody>
      </p:sp>
      <p:sp>
        <p:nvSpPr>
          <p:cNvPr id="22" name="Rounded Rectangle 21"/>
          <p:cNvSpPr/>
          <p:nvPr/>
        </p:nvSpPr>
        <p:spPr>
          <a:xfrm>
            <a:off x="777240" y="4515358"/>
            <a:ext cx="5209016" cy="1392174"/>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9848" y="4753102"/>
            <a:ext cx="457200" cy="274320"/>
          </a:xfrm>
          <a:prstGeom prst="rect">
            <a:avLst/>
          </a:prstGeom>
          <a:noFill/>
        </p:spPr>
        <p:txBody>
          <a:bodyPr wrap="square" anchor="t" lIns="0" rIns="0" tIns="0" bIns="0">
            <a:spAutoFit/>
          </a:bodyPr>
          <a:lstStyle/>
          <a:p>
            <a:pPr algn="l">
              <a:lnSpc>
                <a:spcPct val="118000"/>
              </a:lnSpc>
            </a:pPr>
            <a:r>
              <a:rPr sz="1950" b="0" i="0">
                <a:solidFill>
                  <a:srgbClr val="B0754A"/>
                </a:solidFill>
                <a:latin typeface="Cambria"/>
              </a:rPr>
              <a:t>5</a:t>
            </a:r>
          </a:p>
        </p:txBody>
      </p:sp>
      <p:sp>
        <p:nvSpPr>
          <p:cNvPr id="24" name="TextBox 23"/>
          <p:cNvSpPr txBox="1"/>
          <p:nvPr/>
        </p:nvSpPr>
        <p:spPr>
          <a:xfrm>
            <a:off x="1581912" y="4789678"/>
            <a:ext cx="4066016" cy="459485"/>
          </a:xfrm>
          <a:prstGeom prst="rect">
            <a:avLst/>
          </a:prstGeom>
          <a:noFill/>
        </p:spPr>
        <p:txBody>
          <a:bodyPr wrap="square" anchor="t" lIns="0" rIns="0" tIns="0" bIns="0">
            <a:spAutoFit/>
          </a:bodyPr>
          <a:lstStyle/>
          <a:p>
            <a:pPr algn="l">
              <a:lnSpc>
                <a:spcPct val="118000"/>
              </a:lnSpc>
            </a:pPr>
            <a:r>
              <a:rPr sz="1350" b="1" i="0">
                <a:solidFill>
                  <a:srgbClr val="101614"/>
                </a:solidFill>
                <a:latin typeface="Calibri"/>
              </a:rPr>
              <a:t>The evidence layer holds more than three markets</a:t>
            </a:r>
          </a:p>
        </p:txBody>
      </p:sp>
      <p:sp>
        <p:nvSpPr>
          <p:cNvPr id="25" name="TextBox 24"/>
          <p:cNvSpPr txBox="1"/>
          <p:nvPr/>
        </p:nvSpPr>
        <p:spPr>
          <a:xfrm>
            <a:off x="1581912" y="5395468"/>
            <a:ext cx="4066016" cy="310896"/>
          </a:xfrm>
          <a:prstGeom prst="rect">
            <a:avLst/>
          </a:prstGeom>
          <a:noFill/>
        </p:spPr>
        <p:txBody>
          <a:bodyPr wrap="square" anchor="t" lIns="0" rIns="0" tIns="0" bIns="0">
            <a:spAutoFit/>
          </a:bodyPr>
          <a:lstStyle/>
          <a:p>
            <a:pPr algn="l">
              <a:lnSpc>
                <a:spcPct val="118000"/>
              </a:lnSpc>
            </a:pPr>
            <a:r>
              <a:rPr sz="1150" b="0" i="1">
                <a:solidFill>
                  <a:srgbClr val="B0754A"/>
                </a:solidFill>
                <a:latin typeface="Calibri"/>
              </a:rPr>
              <a:t>part-built</a:t>
            </a:r>
          </a:p>
        </p:txBody>
      </p:sp>
      <p:sp>
        <p:nvSpPr>
          <p:cNvPr id="26" name="TextBox 25"/>
          <p:cNvSpPr txBox="1"/>
          <p:nvPr/>
        </p:nvSpPr>
        <p:spPr>
          <a:xfrm>
            <a:off x="777240" y="6236716"/>
            <a:ext cx="10637489" cy="640080"/>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In dependency order. None of these is a research problem; all of them are build work, and the first one comes first because until a new team's output is refused by the same rules, every later step adds risk faster than it adds capacity.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1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58368"/>
            <a:ext cx="10637489" cy="201168"/>
          </a:xfrm>
          <a:prstGeom prst="rect">
            <a:avLst/>
          </a:prstGeom>
          <a:noFill/>
        </p:spPr>
        <p:txBody>
          <a:bodyPr wrap="square" anchor="t" lIns="0" rIns="0" tIns="0" bIns="0">
            <a:spAutoFit/>
          </a:bodyPr>
          <a:lstStyle/>
          <a:p>
            <a:pPr algn="l">
              <a:lnSpc>
                <a:spcPct val="118000"/>
              </a:lnSpc>
            </a:pPr>
            <a:r>
              <a:rPr sz="1000" b="1" i="0">
                <a:solidFill>
                  <a:srgbClr val="6B7873"/>
                </a:solidFill>
                <a:latin typeface="Calibri"/>
              </a:rPr>
              <a:t>WHAT A MARKET TEACHES THE NEXT ONE</a:t>
            </a:r>
          </a:p>
        </p:txBody>
      </p:sp>
      <p:sp>
        <p:nvSpPr>
          <p:cNvPr id="4" name="TextBox 3"/>
          <p:cNvSpPr txBox="1"/>
          <p:nvPr/>
        </p:nvSpPr>
        <p:spPr>
          <a:xfrm>
            <a:off x="777240" y="932688"/>
            <a:ext cx="10180289" cy="1089152"/>
          </a:xfrm>
          <a:prstGeom prst="rect">
            <a:avLst/>
          </a:prstGeom>
          <a:noFill/>
        </p:spPr>
        <p:txBody>
          <a:bodyPr wrap="square" anchor="t" lIns="0" rIns="0" tIns="0" bIns="0">
            <a:spAutoFit/>
          </a:bodyPr>
          <a:lstStyle/>
          <a:p>
            <a:pPr algn="l">
              <a:lnSpc>
                <a:spcPct val="118000"/>
              </a:lnSpc>
            </a:pPr>
            <a:r>
              <a:rPr sz="3200" b="0" i="0">
                <a:solidFill>
                  <a:srgbClr val="101614"/>
                </a:solidFill>
                <a:latin typeface="Cambria"/>
              </a:rPr>
              <a:t>The market cannot close until it is written down</a:t>
            </a:r>
          </a:p>
        </p:txBody>
      </p:sp>
      <p:sp>
        <p:nvSpPr>
          <p:cNvPr id="5" name="Oval 4"/>
          <p:cNvSpPr/>
          <p:nvPr/>
        </p:nvSpPr>
        <p:spPr>
          <a:xfrm>
            <a:off x="11140409" y="1394968"/>
            <a:ext cx="164592" cy="164592"/>
          </a:xfrm>
          <a:prstGeom prst="ellipse">
            <a:avLst/>
          </a:prstGeom>
          <a:solidFill>
            <a:srgbClr val="7E9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2485369"/>
            <a:ext cx="5199872" cy="2373630"/>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796265"/>
            <a:ext cx="4559792" cy="550925"/>
          </a:xfrm>
          <a:prstGeom prst="rect">
            <a:avLst/>
          </a:prstGeom>
          <a:noFill/>
        </p:spPr>
        <p:txBody>
          <a:bodyPr wrap="square" anchor="t" lIns="0" rIns="0" tIns="0" bIns="0">
            <a:spAutoFit/>
          </a:bodyPr>
          <a:lstStyle/>
          <a:p>
            <a:pPr algn="l">
              <a:lnSpc>
                <a:spcPct val="118000"/>
              </a:lnSpc>
            </a:pPr>
            <a:r>
              <a:rPr sz="1350" b="1" i="0">
                <a:solidFill>
                  <a:srgbClr val="1E2A27"/>
                </a:solidFill>
                <a:latin typeface="Calibri"/>
              </a:rPr>
              <a:t>Every market has one route the money legally travels, and that route decides which claims are available.</a:t>
            </a:r>
          </a:p>
        </p:txBody>
      </p:sp>
      <p:sp>
        <p:nvSpPr>
          <p:cNvPr id="8" name="TextBox 7"/>
          <p:cNvSpPr txBox="1"/>
          <p:nvPr/>
        </p:nvSpPr>
        <p:spPr>
          <a:xfrm>
            <a:off x="1097280" y="3493495"/>
            <a:ext cx="4559792" cy="1367789"/>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In one market, property tax reaches the school district, the county and the sheriff, and not the town's own revenue base. That the schools were transformed survives scrutiny. That the town was transformed does not.</a:t>
            </a:r>
          </a:p>
        </p:txBody>
      </p:sp>
      <p:sp>
        <p:nvSpPr>
          <p:cNvPr id="9" name="Rounded Rectangle 8"/>
          <p:cNvSpPr/>
          <p:nvPr/>
        </p:nvSpPr>
        <p:spPr>
          <a:xfrm>
            <a:off x="6214856" y="2485369"/>
            <a:ext cx="5199872" cy="2373630"/>
          </a:xfrm>
          <a:prstGeom prst="roundRect">
            <a:avLst>
              <a:gd name="adj" fmla="val 3500"/>
            </a:avLst>
          </a:prstGeom>
          <a:solidFill>
            <a:srgbClr val="FFFFFF"/>
          </a:solidFill>
          <a:ln w="9525">
            <a:solidFill>
              <a:srgbClr val="E2E6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4896" y="2796265"/>
            <a:ext cx="4559792" cy="780669"/>
          </a:xfrm>
          <a:prstGeom prst="rect">
            <a:avLst/>
          </a:prstGeom>
          <a:noFill/>
        </p:spPr>
        <p:txBody>
          <a:bodyPr wrap="square" anchor="t" lIns="0" rIns="0" tIns="0" bIns="0">
            <a:spAutoFit/>
          </a:bodyPr>
          <a:lstStyle/>
          <a:p>
            <a:pPr algn="l">
              <a:lnSpc>
                <a:spcPct val="118000"/>
              </a:lnSpc>
            </a:pPr>
            <a:r>
              <a:rPr sz="1350" b="1" i="0">
                <a:solidFill>
                  <a:srgbClr val="1E2A27"/>
                </a:solidFill>
                <a:latin typeface="Calibri"/>
              </a:rPr>
              <a:t>A figure heard in the field is one person's testimony on the day it is heard, however credible the speaker and however often it is repeated back.</a:t>
            </a:r>
          </a:p>
        </p:txBody>
      </p:sp>
      <p:sp>
        <p:nvSpPr>
          <p:cNvPr id="11" name="TextBox 10"/>
          <p:cNvSpPr txBox="1"/>
          <p:nvPr/>
        </p:nvSpPr>
        <p:spPr>
          <a:xfrm>
            <a:off x="6534896" y="3723238"/>
            <a:ext cx="4559792" cy="1367789"/>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One market produced a set of vivid, widely repeated numbers about a school district and a county tax base. Every one of them was a single source. Fourteen went into verification.</a:t>
            </a:r>
          </a:p>
        </p:txBody>
      </p:sp>
      <p:sp>
        <p:nvSpPr>
          <p:cNvPr id="12" name="TextBox 11"/>
          <p:cNvSpPr txBox="1"/>
          <p:nvPr/>
        </p:nvSpPr>
        <p:spPr>
          <a:xfrm>
            <a:off x="777240" y="5169895"/>
            <a:ext cx="10637489" cy="731520"/>
          </a:xfrm>
          <a:prstGeom prst="rect">
            <a:avLst/>
          </a:prstGeom>
          <a:noFill/>
        </p:spPr>
        <p:txBody>
          <a:bodyPr wrap="square" anchor="t" lIns="0" rIns="0" tIns="0" bIns="0">
            <a:spAutoFit/>
          </a:bodyPr>
          <a:lstStyle/>
          <a:p>
            <a:pPr algn="l">
              <a:lnSpc>
                <a:spcPct val="118000"/>
              </a:lnSpc>
            </a:pPr>
            <a:r>
              <a:rPr sz="1700" b="0" i="0">
                <a:solidFill>
                  <a:srgbClr val="1E2A27"/>
                </a:solidFill>
                <a:latin typeface="Calibri"/>
              </a:rPr>
              <a:t>The close-out refuses to complete while a market's learnings are missing or unclassed. That is what stops the second market from paying to learn what the first one already knew.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1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77240" y="1519427"/>
            <a:ext cx="182880" cy="182880"/>
          </a:xfrm>
          <a:prstGeom prst="ellipse">
            <a:avLst/>
          </a:prstGeom>
          <a:solidFill>
            <a:srgbClr val="7E94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049779"/>
            <a:ext cx="9265889" cy="1021080"/>
          </a:xfrm>
          <a:prstGeom prst="rect">
            <a:avLst/>
          </a:prstGeom>
          <a:noFill/>
        </p:spPr>
        <p:txBody>
          <a:bodyPr wrap="square" anchor="t" lIns="0" rIns="0" tIns="0" bIns="0">
            <a:spAutoFit/>
          </a:bodyPr>
          <a:lstStyle/>
          <a:p>
            <a:pPr algn="l">
              <a:lnSpc>
                <a:spcPct val="118000"/>
              </a:lnSpc>
            </a:pPr>
            <a:r>
              <a:rPr sz="3000" b="0" i="0">
                <a:solidFill>
                  <a:srgbClr val="1E2A27"/>
                </a:solidFill>
                <a:latin typeface="Cambria"/>
              </a:rPr>
              <a:t>The next step is a conversation about which of these to build first.</a:t>
            </a:r>
          </a:p>
        </p:txBody>
      </p:sp>
      <p:sp>
        <p:nvSpPr>
          <p:cNvPr id="5" name="TextBox 4"/>
          <p:cNvSpPr txBox="1"/>
          <p:nvPr/>
        </p:nvSpPr>
        <p:spPr>
          <a:xfrm>
            <a:off x="777240" y="3381755"/>
            <a:ext cx="9265889" cy="1005840"/>
          </a:xfrm>
          <a:prstGeom prst="rect">
            <a:avLst/>
          </a:prstGeom>
          <a:noFill/>
        </p:spPr>
        <p:txBody>
          <a:bodyPr wrap="square" anchor="t" lIns="0" rIns="0" tIns="0" bIns="0">
            <a:spAutoFit/>
          </a:bodyPr>
          <a:lstStyle/>
          <a:p>
            <a:pPr algn="l">
              <a:lnSpc>
                <a:spcPct val="118000"/>
              </a:lnSpc>
            </a:pPr>
            <a:r>
              <a:rPr sz="1700" b="0" i="0">
                <a:solidFill>
                  <a:srgbClr val="39443F"/>
                </a:solidFill>
                <a:latin typeface="Calibri"/>
              </a:rPr>
              <a:t>Everything above is either running, part-built, or scoped. What is not decided is the order, and that is worth deciding together rather than separately.</a:t>
            </a:r>
          </a:p>
        </p:txBody>
      </p:sp>
      <p:sp>
        <p:nvSpPr>
          <p:cNvPr id="6" name="TextBox 5"/>
          <p:cNvSpPr txBox="1"/>
          <p:nvPr/>
        </p:nvSpPr>
        <p:spPr>
          <a:xfrm>
            <a:off x="777240" y="5715000"/>
            <a:ext cx="10637489" cy="457200"/>
          </a:xfrm>
          <a:prstGeom prst="rect">
            <a:avLst/>
          </a:prstGeom>
          <a:noFill/>
        </p:spPr>
        <p:txBody>
          <a:bodyPr wrap="square" anchor="t" lIns="0" rIns="0" tIns="0" bIns="0">
            <a:spAutoFit/>
          </a:bodyPr>
          <a:lstStyle/>
          <a:p>
            <a:pPr algn="l">
              <a:lnSpc>
                <a:spcPct val="118000"/>
              </a:lnSpc>
            </a:pPr>
            <a:r>
              <a:rPr sz="1150" b="0" i="0">
                <a:solidFill>
                  <a:srgbClr val="6B7873"/>
                </a:solidFill>
                <a:latin typeface="Calibri"/>
              </a:rPr>
              <a:t>Juno Collective  ·  the Groundwork Method  ·  juno-collective.com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operating model</dc:title>
  <dc:subject/>
  <dc:creator>Groundwork</dc:creator>
  <cp:keywords/>
  <dc:description/>
  <cp:lastModifiedBy>Groundwork</cp:lastModifiedBy>
  <cp:revision>1</cp:revision>
  <dcterms:created xsi:type="dcterms:W3CDTF">2013-01-27T09:14:16Z</dcterms:created>
  <dcterms:modified xsi:type="dcterms:W3CDTF">2013-01-27T09:15:58Z</dcterms:modified>
  <cp:category/>
</cp:coreProperties>
</file>