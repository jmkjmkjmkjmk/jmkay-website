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Community evidence.</a:t>
            </a:r>
          </a:p>
          <a:p/>
          <a:p>
            <a:r>
              <a:t>Hand it over and stop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They cannot answer it today.</a:t>
            </a:r>
          </a:p>
          <a:p/>
          <a:p>
            <a:r>
              <a:t>The whole pitch is this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It is a third thing, not a better version of either.</a:t>
            </a:r>
          </a:p>
          <a:p/>
          <a:p>
            <a:r>
              <a:t>Name the middle column and let the two outer ones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Synthesis cannot start before the ground; the ground cannot start before the audit.</a:t>
            </a:r>
          </a:p>
          <a:p/>
          <a:p>
            <a:r>
              <a:t>Walk the four moves, not the ten phases. The detail is the conversation, not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The register shows its work.</a:t>
            </a:r>
          </a:p>
          <a:p/>
          <a:p>
            <a:r>
              <a:t>This is the slide a sceptic remembers.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One of these is their problem.</a:t>
            </a:r>
          </a:p>
          <a:p/>
          <a:p>
            <a:r>
              <a:t>Do not walk all eight. Name the one they already described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One of these is their problem.</a:t>
            </a:r>
          </a:p>
          <a:p/>
          <a:p>
            <a:r>
              <a:t>Do not walk all eight. Name the one they already described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It has already run.</a:t>
            </a:r>
          </a:p>
          <a:p/>
          <a:p>
            <a:r>
              <a:t>If asked who: a global technology company. That is the whole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SENTENCE — A conversation, not a proposal.</a:t>
            </a:r>
          </a:p>
          <a:p/>
          <a:p>
            <a:r>
              <a:t>One ask. Do not add a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0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A8BC80"/>
                </a:solidFill>
                <a:latin typeface="Calibri"/>
              </a:rPr>
              <a:t>THE GROUNDWORK METHOD  ·  BY JUNO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637489" cy="918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5400" b="0" i="0">
                <a:solidFill>
                  <a:srgbClr val="FBFAF8"/>
                </a:solidFill>
                <a:latin typeface="Cambria"/>
              </a:rPr>
              <a:t>Community evidence</a:t>
            </a:r>
          </a:p>
        </p:txBody>
      </p:sp>
      <p:sp>
        <p:nvSpPr>
          <p:cNvPr id="5" name="Oval 4"/>
          <p:cNvSpPr/>
          <p:nvPr/>
        </p:nvSpPr>
        <p:spPr>
          <a:xfrm>
            <a:off x="8266541" y="2343150"/>
            <a:ext cx="256032" cy="25603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204972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0" i="0">
                <a:solidFill>
                  <a:srgbClr val="C6D2CB"/>
                </a:solidFill>
                <a:latin typeface="Calibri"/>
              </a:rPr>
              <a:t>Field research that turns what a facility really means to a town into claims that hold up when somebody hostile reads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8A9490"/>
                </a:solidFill>
                <a:latin typeface="Calibri"/>
              </a:rPr>
              <a:t>juno-collective.com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1165098"/>
            <a:ext cx="182880" cy="182880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5450"/>
            <a:ext cx="9265889" cy="2552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 i="0">
                <a:solidFill>
                  <a:srgbClr val="1E2A27"/>
                </a:solidFill>
                <a:latin typeface="Cambria"/>
              </a:rPr>
              <a:t>You are going to be asked what your facility has actually done for this town — by a reporter, a county board, or your own chief executive. Can you answer that today with something that holds up?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59046"/>
            <a:ext cx="92658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6B7873"/>
                </a:solidFill>
                <a:latin typeface="Calibri"/>
              </a:rPr>
              <a:t>Most companies cannot. The investment number is published; what the place actually got is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6B7873"/>
                </a:solidFill>
                <a:latin typeface="Calibri"/>
              </a:rPr>
              <a:t>THE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Between asserting and convening</a:t>
            </a:r>
          </a:p>
        </p:txBody>
      </p:sp>
      <p:sp>
        <p:nvSpPr>
          <p:cNvPr id="5" name="Oval 4"/>
          <p:cNvSpPr/>
          <p:nvPr/>
        </p:nvSpPr>
        <p:spPr>
          <a:xfrm>
            <a:off x="11140409" y="1122679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1584"/>
            <a:ext cx="3350757" cy="20619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80768"/>
            <a:ext cx="271067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01614"/>
                </a:solidFill>
                <a:latin typeface="Calibri"/>
              </a:rPr>
              <a:t>Corporate communications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92832"/>
            <a:ext cx="2710677" cy="964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6B7873"/>
                </a:solidFill>
                <a:latin typeface="Calibri"/>
              </a:rPr>
              <a:t>Asserts. Starts from what the company wants said, and asks the town to believe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0605" y="1751584"/>
            <a:ext cx="3350757" cy="2061972"/>
          </a:xfrm>
          <a:prstGeom prst="roundRect">
            <a:avLst>
              <a:gd name="adj" fmla="val 3500"/>
            </a:avLst>
          </a:prstGeom>
          <a:solidFill>
            <a:srgbClr val="1E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0645" y="2080768"/>
            <a:ext cx="271067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FBFAF8"/>
                </a:solidFill>
                <a:latin typeface="Calibri"/>
              </a:rPr>
              <a:t>Community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0645" y="2592832"/>
            <a:ext cx="2710677" cy="964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F1F4EE"/>
                </a:solidFill>
                <a:latin typeface="Calibri"/>
              </a:rPr>
              <a:t>Verifies. Starts from what the town says, records it, sources it, and publishes only what survives.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3971" y="1751584"/>
            <a:ext cx="3350757" cy="20619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4011" y="2080768"/>
            <a:ext cx="271067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01614"/>
                </a:solidFill>
                <a:latin typeface="Calibri"/>
              </a:rPr>
              <a:t>Community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4011" y="2592832"/>
            <a:ext cx="2710677" cy="964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6B7873"/>
                </a:solidFill>
                <a:latin typeface="Calibri"/>
              </a:rPr>
              <a:t>Convenes. Brings people into a room, and leaves without a record anyone can audit.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97604"/>
            <a:ext cx="106374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1E2A27"/>
                </a:solidFill>
                <a:latin typeface="Calibri"/>
              </a:rPr>
              <a:t>The category is community evidence — the discipline between corporate communications, which asserts, and community engagement, which convenes.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6B7873"/>
                </a:solidFill>
                <a:latin typeface="Calibri"/>
              </a:rPr>
              <a:t>HOW IT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Four moves, ten phases, in order</a:t>
            </a:r>
          </a:p>
        </p:txBody>
      </p:sp>
      <p:sp>
        <p:nvSpPr>
          <p:cNvPr id="5" name="Oval 4"/>
          <p:cNvSpPr/>
          <p:nvPr/>
        </p:nvSpPr>
        <p:spPr>
          <a:xfrm>
            <a:off x="11140409" y="1122679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1584"/>
            <a:ext cx="2535928" cy="337581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89328"/>
            <a:ext cx="20787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27072"/>
            <a:ext cx="2078728" cy="28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Audit and gap-find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5711"/>
            <a:ext cx="2078728" cy="7045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6B7873"/>
                </a:solidFill>
                <a:latin typeface="Calibri"/>
              </a:rPr>
              <a:t>What is already said about the market, and what nobody has checked.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61696"/>
            <a:ext cx="2078728" cy="56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B0754A"/>
                </a:solidFill>
                <a:latin typeface="Calibri"/>
              </a:rPr>
              <a:t>0  </a:t>
            </a:r>
            <a:r>
              <a:rPr sz="1150" b="0" i="0">
                <a:solidFill>
                  <a:srgbClr val="101614"/>
                </a:solidFill>
                <a:latin typeface="Calibri"/>
              </a:rPr>
              <a:t>Spin-up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1" i="0">
                <a:solidFill>
                  <a:srgbClr val="B0754A"/>
                </a:solidFill>
                <a:latin typeface="Calibri"/>
              </a:rPr>
              <a:t>1  </a:t>
            </a:r>
            <a:r>
              <a:rPr sz="1150" b="0" i="0">
                <a:solidFill>
                  <a:srgbClr val="101614"/>
                </a:solidFill>
                <a:latin typeface="Calibri"/>
              </a:rPr>
              <a:t>Audit and gap-find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7760" y="1751584"/>
            <a:ext cx="2535928" cy="337581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6360" y="1989328"/>
            <a:ext cx="20787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6360" y="2227072"/>
            <a:ext cx="2078728" cy="567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Baseline the before-picture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6360" y="2849486"/>
            <a:ext cx="2078728" cy="7045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6B7873"/>
                </a:solidFill>
                <a:latin typeface="Calibri"/>
              </a:rPr>
              <a:t>Where the market stood before, on an instrument every market shares.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6360" y="3645471"/>
            <a:ext cx="2078728" cy="561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B0754A"/>
                </a:solidFill>
                <a:latin typeface="Calibri"/>
              </a:rPr>
              <a:t>2  </a:t>
            </a:r>
            <a:r>
              <a:rPr sz="1150" b="0" i="0">
                <a:solidFill>
                  <a:srgbClr val="101614"/>
                </a:solidFill>
                <a:latin typeface="Calibri"/>
              </a:rPr>
              <a:t>Baseline the before-picture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280" y="1751584"/>
            <a:ext cx="2535928" cy="337581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6880" y="1989328"/>
            <a:ext cx="20787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6880" y="2227072"/>
            <a:ext cx="2078728" cy="28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Discover on the 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6880" y="2565711"/>
            <a:ext cx="2078728" cy="7045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6B7873"/>
                </a:solidFill>
                <a:latin typeface="Calibri"/>
              </a:rPr>
              <a:t>The rooms, the tape, and the register that grows from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6880" y="3361696"/>
            <a:ext cx="2078728" cy="1500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B0754A"/>
                </a:solidFill>
                <a:latin typeface="Calibri"/>
              </a:rPr>
              <a:t>3  </a:t>
            </a:r>
            <a:r>
              <a:rPr sz="1150" b="0" i="0">
                <a:solidFill>
                  <a:srgbClr val="101614"/>
                </a:solidFill>
                <a:latin typeface="Calibri"/>
              </a:rPr>
              <a:t>Champion mapping and outreach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1" i="0">
                <a:solidFill>
                  <a:srgbClr val="B0754A"/>
                </a:solidFill>
                <a:latin typeface="Calibri"/>
              </a:rPr>
              <a:t>4  </a:t>
            </a:r>
            <a:r>
              <a:rPr sz="1150" b="0" i="0">
                <a:solidFill>
                  <a:srgbClr val="101614"/>
                </a:solidFill>
                <a:latin typeface="Calibri"/>
              </a:rPr>
              <a:t>Discovery visit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1" i="0">
                <a:solidFill>
                  <a:srgbClr val="B0754A"/>
                </a:solidFill>
                <a:latin typeface="Calibri"/>
              </a:rPr>
              <a:t>5  </a:t>
            </a:r>
            <a:r>
              <a:rPr sz="1150" b="0" i="0">
                <a:solidFill>
                  <a:srgbClr val="101614"/>
                </a:solidFill>
                <a:latin typeface="Calibri"/>
              </a:rPr>
              <a:t>Production visit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1" i="0">
                <a:solidFill>
                  <a:srgbClr val="B0754A"/>
                </a:solidFill>
                <a:latin typeface="Calibri"/>
              </a:rPr>
              <a:t>6  </a:t>
            </a:r>
            <a:r>
              <a:rPr sz="1150" b="0" i="0">
                <a:solidFill>
                  <a:srgbClr val="101614"/>
                </a:solidFill>
                <a:latin typeface="Calibri"/>
              </a:rPr>
              <a:t>Capture to transcript to intel-delta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78801" y="1751584"/>
            <a:ext cx="2535928" cy="337581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01" y="1989328"/>
            <a:ext cx="20787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B0754A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01" y="2227072"/>
            <a:ext cx="2078728" cy="283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Synthesize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01" y="2565711"/>
            <a:ext cx="2078728" cy="7045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6B7873"/>
                </a:solidFill>
                <a:latin typeface="Calibri"/>
              </a:rPr>
              <a:t>The findings, the review, and what the next market inherits.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01" y="3361696"/>
            <a:ext cx="2078728" cy="7959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B0754A"/>
                </a:solidFill>
                <a:latin typeface="Calibri"/>
              </a:rPr>
              <a:t>7  </a:t>
            </a:r>
            <a:r>
              <a:rPr sz="1150" b="0" i="0">
                <a:solidFill>
                  <a:srgbClr val="101614"/>
                </a:solidFill>
                <a:latin typeface="Calibri"/>
              </a:rPr>
              <a:t>Synthesis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1" i="0">
                <a:solidFill>
                  <a:srgbClr val="B0754A"/>
                </a:solidFill>
                <a:latin typeface="Calibri"/>
              </a:rPr>
              <a:t>8  </a:t>
            </a:r>
            <a:r>
              <a:rPr sz="1150" b="0" i="0">
                <a:solidFill>
                  <a:srgbClr val="101614"/>
                </a:solidFill>
                <a:latin typeface="Calibri"/>
              </a:rPr>
              <a:t>The review ramp</a:t>
            </a: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1150" b="1" i="0">
                <a:solidFill>
                  <a:srgbClr val="B0754A"/>
                </a:solidFill>
                <a:latin typeface="Calibri"/>
              </a:rPr>
              <a:t>9  </a:t>
            </a:r>
            <a:r>
              <a:rPr sz="1150" b="0" i="0">
                <a:solidFill>
                  <a:srgbClr val="101614"/>
                </a:solidFill>
                <a:latin typeface="Calibri"/>
              </a:rPr>
              <a:t>Close-out and codify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20010"/>
            <a:ext cx="106374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6B7873"/>
                </a:solidFill>
                <a:latin typeface="Calibri"/>
              </a:rPr>
              <a:t>Durations are set at scoping. Market size, access and the volume of published claims all move them. The budget model prices the same ten phases.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6B7873"/>
                </a:solidFill>
                <a:latin typeface="Calibri"/>
              </a:rPr>
              <a:t>WHY IT HOLDS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Every claim carries its own evidence</a:t>
            </a:r>
          </a:p>
        </p:txBody>
      </p:sp>
      <p:sp>
        <p:nvSpPr>
          <p:cNvPr id="5" name="Oval 4"/>
          <p:cNvSpPr/>
          <p:nvPr/>
        </p:nvSpPr>
        <p:spPr>
          <a:xfrm>
            <a:off x="11140409" y="1122679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1584"/>
            <a:ext cx="2481064" cy="17429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044192"/>
            <a:ext cx="137160" cy="137160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18512"/>
            <a:ext cx="193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2A27"/>
                </a:solidFill>
                <a:latin typeface="Calibri"/>
              </a:rPr>
              <a:t>Sourced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47696"/>
            <a:ext cx="1932424" cy="599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Every input traceable to a document, a dataset or a person on the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6048" y="1751584"/>
            <a:ext cx="2481064" cy="17429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70368" y="2044192"/>
            <a:ext cx="137160" cy="137160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0368" y="2318512"/>
            <a:ext cx="193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2A27"/>
                </a:solidFill>
                <a:latin typeface="Calibri"/>
              </a:rPr>
              <a:t>Verdicted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0368" y="2647696"/>
            <a:ext cx="1932424" cy="599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Every claim carries a verdict, not an assertion. The ones that fail are marked and the reason is kept.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856" y="1751584"/>
            <a:ext cx="2481064" cy="17429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9176" y="2044192"/>
            <a:ext cx="137160" cy="137160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9176" y="2318512"/>
            <a:ext cx="193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2A27"/>
                </a:solidFill>
                <a:latin typeface="Calibri"/>
              </a:rPr>
              <a:t>Negatives counted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176" y="2647696"/>
            <a:ext cx="1932424" cy="599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Findings that do not flatter the client stay in and visibly lower the score. Methodology published.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65" y="1751584"/>
            <a:ext cx="2481064" cy="17429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07985" y="2044192"/>
            <a:ext cx="137160" cy="137160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7985" y="2318512"/>
            <a:ext cx="19324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2A27"/>
                </a:solidFill>
                <a:latin typeface="Calibri"/>
              </a:rPr>
              <a:t>Consented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7985" y="2647696"/>
            <a:ext cx="1932424" cy="5999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Interviews are long-form, on the record, and agreed in writing before anything is 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6B7873"/>
                </a:solidFill>
                <a:latin typeface="Calibri"/>
              </a:rPr>
              <a:t>WHAT CAN BE BOUGHT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Eight lines</a:t>
            </a:r>
          </a:p>
        </p:txBody>
      </p:sp>
      <p:sp>
        <p:nvSpPr>
          <p:cNvPr id="5" name="Oval 4"/>
          <p:cNvSpPr/>
          <p:nvPr/>
        </p:nvSpPr>
        <p:spPr>
          <a:xfrm>
            <a:off x="11140409" y="1122679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1584"/>
            <a:ext cx="5190728" cy="151980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0259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0" i="0">
                <a:solidFill>
                  <a:srgbClr val="B0754A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62480"/>
            <a:ext cx="4002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Market Impact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46528"/>
            <a:ext cx="4002008" cy="6054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A sourced evidence base: every claim registered and verdicted, the friction map, and the honest picture. Weeks rather than quarters.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4000" y="1751584"/>
            <a:ext cx="5190728" cy="151980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4896" y="20259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0" i="0">
                <a:solidFill>
                  <a:srgbClr val="B0754A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6960" y="2062480"/>
            <a:ext cx="4002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Story &amp; Champion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6960" y="2446528"/>
            <a:ext cx="4002008" cy="6054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The story inventory and a consented champion map, plus the stakeholder universe — who the story touches, from officials to your own site staff.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7425"/>
            <a:ext cx="5190728" cy="151980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80174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0" i="0">
                <a:solidFill>
                  <a:srgbClr val="B0754A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838321"/>
            <a:ext cx="4002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Community Storytelling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22369"/>
            <a:ext cx="4002008" cy="6054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Flagship film, champion profiles, short-form, photography and the activation toolkit — every asset traceable to the evidence 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4000" y="3527425"/>
            <a:ext cx="5190728" cy="151980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896" y="380174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0" i="0">
                <a:solidFill>
                  <a:srgbClr val="B0754A"/>
                </a:solidFill>
                <a:latin typeface="Cambr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6960" y="3838321"/>
            <a:ext cx="4002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The Halo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6960" y="4222369"/>
            <a:ext cx="4002008" cy="6054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A banded, annually re-scored measure of what a facility gives back, across five dimensions. Methodology published, negatives counted.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B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6B7873"/>
                </a:solidFill>
                <a:latin typeface="Calibri"/>
              </a:rPr>
              <a:t>WHAT CAN BE BOUGHT,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101614"/>
                </a:solidFill>
                <a:latin typeface="Cambria"/>
              </a:rPr>
              <a:t>Eight lines, continued</a:t>
            </a:r>
          </a:p>
        </p:txBody>
      </p:sp>
      <p:sp>
        <p:nvSpPr>
          <p:cNvPr id="5" name="Oval 4"/>
          <p:cNvSpPr/>
          <p:nvPr/>
        </p:nvSpPr>
        <p:spPr>
          <a:xfrm>
            <a:off x="11140409" y="1122679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1584"/>
            <a:ext cx="5190728" cy="151980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0259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0" i="0">
                <a:solidFill>
                  <a:srgbClr val="B0754A"/>
                </a:solidFill>
                <a:latin typeface="Cambria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62480"/>
            <a:ext cx="4002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Community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46528"/>
            <a:ext cx="4002008" cy="6054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The registers, the stakeholder map and the champion record as a living system — institutional memory that survives turnover.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4000" y="1751584"/>
            <a:ext cx="5190728" cy="151980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4896" y="202590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0" i="0">
                <a:solidFill>
                  <a:srgbClr val="B0754A"/>
                </a:solidFill>
                <a:latin typeface="Cambria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6960" y="2062480"/>
            <a:ext cx="4002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The Playbook &amp; Certified Researchers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6960" y="2446528"/>
            <a:ext cx="4002008" cy="6054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The method as it is actually run and kept current, plus researchers trained against it: the same standard everywhere, verified by robust gates.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27425"/>
            <a:ext cx="5190728" cy="151980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380174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0" i="0">
                <a:solidFill>
                  <a:srgbClr val="B0754A"/>
                </a:solidFill>
                <a:latin typeface="Cambria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838321"/>
            <a:ext cx="4002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The Program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22369"/>
            <a:ext cx="4002008" cy="6054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One always-current place: schedule, deliverables, assets with thumbnails, transcripts. Nobody has to ask.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4000" y="3527425"/>
            <a:ext cx="5190728" cy="151980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896" y="380174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950" b="0" i="0">
                <a:solidFill>
                  <a:srgbClr val="B0754A"/>
                </a:solidFill>
                <a:latin typeface="Cambria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6960" y="3838321"/>
            <a:ext cx="4002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01614"/>
                </a:solidFill>
                <a:latin typeface="Calibri"/>
              </a:rPr>
              <a:t>Claim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6960" y="4222369"/>
            <a:ext cx="4002008" cy="6054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The claims you already publish, taken one at a time and verdicted against the record — the ones that hold with their sources attached, the ones that do not, flagged.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0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374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A8BC80"/>
                </a:solidFill>
                <a:latin typeface="Calibri"/>
              </a:rPr>
              <a:t>WHERE IT HAS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180289" cy="544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>
                <a:solidFill>
                  <a:srgbClr val="FBFAF8"/>
                </a:solidFill>
                <a:latin typeface="Cambria"/>
              </a:rPr>
              <a:t>Proven in the field, not in a deck</a:t>
            </a:r>
          </a:p>
        </p:txBody>
      </p:sp>
      <p:sp>
        <p:nvSpPr>
          <p:cNvPr id="5" name="Oval 4"/>
          <p:cNvSpPr/>
          <p:nvPr/>
        </p:nvSpPr>
        <p:spPr>
          <a:xfrm>
            <a:off x="11140409" y="1122679"/>
            <a:ext cx="164592" cy="164592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51584"/>
            <a:ext cx="3362949" cy="1742948"/>
          </a:xfrm>
          <a:prstGeom prst="roundRect">
            <a:avLst>
              <a:gd name="adj" fmla="val 35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062480"/>
            <a:ext cx="275944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A8BC80"/>
                </a:solidFill>
                <a:latin typeface="Calibri"/>
              </a:rPr>
              <a:t>A global technology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483104"/>
            <a:ext cx="2759445" cy="782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C6D2CB"/>
                </a:solidFill>
                <a:latin typeface="Calibri"/>
              </a:rPr>
              <a:t>The method was built and run for one, across three markets on two continents, with further markets in motion.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509" y="1751584"/>
            <a:ext cx="3362949" cy="1742948"/>
          </a:xfrm>
          <a:prstGeom prst="roundRect">
            <a:avLst>
              <a:gd name="adj" fmla="val 35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6261" y="2062480"/>
            <a:ext cx="275944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A8BC80"/>
                </a:solidFill>
                <a:latin typeface="Calibri"/>
              </a:rPr>
              <a:t>On the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261" y="2483104"/>
            <a:ext cx="2759445" cy="782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C6D2CB"/>
                </a:solidFill>
                <a:latin typeface="Calibri"/>
              </a:rPr>
              <a:t>Long-form interviews with officials, employers, educators, suppliers and residents — consented, transcribed and registered.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1779" y="1751584"/>
            <a:ext cx="3362949" cy="1742948"/>
          </a:xfrm>
          <a:prstGeom prst="roundRect">
            <a:avLst>
              <a:gd name="adj" fmla="val 3500"/>
            </a:avLst>
          </a:prstGeom>
          <a:solidFill>
            <a:srgbClr val="2A2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3531" y="2062480"/>
            <a:ext cx="275944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A8BC80"/>
                </a:solidFill>
                <a:latin typeface="Calibri"/>
              </a:rPr>
              <a:t>Published under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531" y="2483104"/>
            <a:ext cx="2759445" cy="782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C6D2CB"/>
                </a:solidFill>
                <a:latin typeface="Calibri"/>
              </a:rPr>
              <a:t>Findings taken through client review and external verification before anything carried a company's name.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0292"/>
            <a:ext cx="1063748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8A9490"/>
                </a:solidFill>
                <a:latin typeface="Calibri"/>
              </a:rPr>
              <a:t>The client is not named here. Naming rights travel with a separate clearance.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1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1911858"/>
            <a:ext cx="182880" cy="182880"/>
          </a:xfrm>
          <a:prstGeom prst="ellipse">
            <a:avLst/>
          </a:prstGeom>
          <a:solidFill>
            <a:srgbClr val="7E9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42210"/>
            <a:ext cx="9265889" cy="510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0" i="0">
                <a:solidFill>
                  <a:srgbClr val="1E2A27"/>
                </a:solidFill>
                <a:latin typeface="Cambria"/>
              </a:rPr>
              <a:t>The next step is a conversation.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63646"/>
            <a:ext cx="926588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39443F"/>
                </a:solidFill>
                <a:latin typeface="Calibri"/>
              </a:rPr>
              <a:t>Short, no cost, and the output is a plain read of what a market would take and what it would return. Scoping follows that, and only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15000"/>
            <a:ext cx="1063748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7873"/>
                </a:solidFill>
                <a:latin typeface="Calibri"/>
              </a:rPr>
              <a:t>Juno Collective  ·  the Groundwork Method  ·  juno-collective.com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Groundwork leave-behind</dc:title>
  <dc:subject/>
  <dc:creator>Groundwork</dc:creator>
  <cp:keywords/>
  <dc:description/>
  <cp:lastModifiedBy>Groundwork</cp:lastModifiedBy>
  <cp:revision>1</cp:revision>
  <dcterms:created xsi:type="dcterms:W3CDTF">2013-01-27T09:14:16Z</dcterms:created>
  <dcterms:modified xsi:type="dcterms:W3CDTF">2013-01-27T09:15:58Z</dcterms:modified>
  <cp:category/>
</cp:coreProperties>
</file>