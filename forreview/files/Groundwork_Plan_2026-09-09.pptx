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Making the research method something a small team can run.</a:t>
            </a:r>
          </a:p>
          <a:p/>
          <a:p>
            <a:r>
              <a:t>Two pages behind this. Three questions at the end. Everything else is decided.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Your sentence, on the drive.</a:t>
            </a:r>
          </a:p>
          <a:p/>
          <a:p>
            <a:r>
              <a:t>I am not going to re-explain the idea back to you. I went and scored what we have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Getting the interviews is packaged. Turning evidence into something a client reads is not written down anywhere.</a:t>
            </a:r>
          </a:p>
          <a:p/>
          <a:p>
            <a:r>
              <a:t>One test: could somebody we hire next month pick this up with nobody to call. It splits cleanly, and not where I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recaps already ran, already changed somebody's temperature, and are now packaged so a second person can run them.</a:t>
            </a:r>
          </a:p>
          <a:p/>
          <a:p>
            <a:r>
              <a:t>Your words, not mine — the single best thing, and the reason the Adria calls stopped being contentious.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morning dashboard you asked for on the drive is built.</a:t>
            </a:r>
          </a:p>
          <a:p/>
          <a:p>
            <a:r>
              <a:t>You asked for this on the drive and I built it. Let me open the real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Ten things you committed to on the drives on 20 August.</a:t>
            </a:r>
          </a:p>
          <a:p/>
          <a:p>
            <a:r>
              <a:t>I went back through the tapes rather than my memory. The timecodes are there if you want to check I have not put words in your mouth.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Most of the kit already existed — it needed extracting rather than inventing.</a:t>
            </a:r>
          </a:p>
          <a:p/>
          <a:p>
            <a:r>
              <a:t>Two things are genuinely new: a market scaffold, and the synthesis instruction, which does not exist and which I am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Juno hires them. I certify them.</a:t>
            </a:r>
          </a:p>
          <a:p/>
          <a:p>
            <a:r>
              <a:t>That keeps you as the employer of record and it keeps me on the standard rather than on payroll. The first hard market stays the two of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point of the model is that your margin per market goes up, not down.</a:t>
            </a:r>
          </a:p>
          <a:p/>
          <a:p>
            <a:r>
              <a:t>A per-market model rather than a rate card. If it does not grow your margin I have built the wrong thing, and I would rather find that out over this page than in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Nothing here needs a reply from you to keep moving.</a:t>
            </a:r>
          </a:p>
          <a:p/>
          <a:p>
            <a:r>
              <a:t>If you say nothing until October, all of it still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Each one carries what I would do and what happens if we do nothing.</a:t>
            </a:r>
          </a:p>
          <a:p/>
          <a:p>
            <a:r>
              <a:t>A silence on any of these is a decision, and I would rather it were a deliberate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Section six — the economics.</a:t>
            </a:r>
          </a:p>
          <a:p/>
          <a:p>
            <a:r>
              <a:t>You did this with the interview guide in July and it came back better. You know what you can carry into a room and I am guessing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0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BC80"/>
                </a:solidFill>
                <a:latin typeface="Calibri"/>
              </a:rPr>
              <a:t>J.M.KAY  ·  FOR DAVID WHITE  ·  9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489" cy="918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0" i="0">
                <a:solidFill>
                  <a:srgbClr val="FBFAF8"/>
                </a:solidFill>
                <a:latin typeface="Cambria"/>
              </a:rPr>
              <a:t>Groundwork</a:t>
            </a:r>
          </a:p>
        </p:txBody>
      </p:sp>
      <p:sp>
        <p:nvSpPr>
          <p:cNvPr id="5" name="Oval 4"/>
          <p:cNvSpPr/>
          <p:nvPr/>
        </p:nvSpPr>
        <p:spPr>
          <a:xfrm>
            <a:off x="4754879" y="2297429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40963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C6D2CB"/>
                </a:solidFill>
                <a:latin typeface="Calibri"/>
              </a:rPr>
              <a:t>Making the research method something a small team can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8A9490"/>
                </a:solidFill>
                <a:latin typeface="Calibri"/>
              </a:rPr>
              <a:t>Two pages behind this. Three questions at the end. Everything else is decided.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2213610"/>
            <a:ext cx="182880" cy="18288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16530"/>
            <a:ext cx="9357329" cy="51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 i="0">
                <a:solidFill>
                  <a:srgbClr val="1E2A27"/>
                </a:solidFill>
                <a:latin typeface="Cambria"/>
              </a:rPr>
              <a:t>“We have to just replicate ourselves.”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19678"/>
            <a:ext cx="93573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David White, on the drive, 20 August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The part that does not replicate yet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77264"/>
            <a:ext cx="5090144" cy="21991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5008"/>
            <a:ext cx="454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LARGELY PACKAGED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199640"/>
            <a:ext cx="91440" cy="9144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2135632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Going to a market and getting the interviews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557399"/>
            <a:ext cx="91440" cy="9144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493391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Recording it, and filing it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915157"/>
            <a:ext cx="91440" cy="9144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851150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Closing a market out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272916"/>
            <a:ext cx="91440" cy="9144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208908"/>
            <a:ext cx="4267184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The instruments exist, they are blank, and they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584" y="1477264"/>
            <a:ext cx="5090144" cy="21991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904" y="1715008"/>
            <a:ext cx="454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NOT WRITTEN DOWN ANYWHERE</a:t>
            </a:r>
          </a:p>
        </p:txBody>
      </p:sp>
      <p:sp>
        <p:nvSpPr>
          <p:cNvPr id="17" name="Oval 16"/>
          <p:cNvSpPr/>
          <p:nvPr/>
        </p:nvSpPr>
        <p:spPr>
          <a:xfrm>
            <a:off x="6598904" y="2199640"/>
            <a:ext cx="91440" cy="91440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0072" y="2135632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Turning verified evidence into a finding</a:t>
            </a:r>
          </a:p>
        </p:txBody>
      </p:sp>
      <p:sp>
        <p:nvSpPr>
          <p:cNvPr id="19" name="Oval 18"/>
          <p:cNvSpPr/>
          <p:nvPr/>
        </p:nvSpPr>
        <p:spPr>
          <a:xfrm>
            <a:off x="6598904" y="2557399"/>
            <a:ext cx="91440" cy="91440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072" y="2493391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Turning a finding into something a client reads</a:t>
            </a:r>
          </a:p>
        </p:txBody>
      </p:sp>
      <p:sp>
        <p:nvSpPr>
          <p:cNvPr id="21" name="Oval 20"/>
          <p:cNvSpPr/>
          <p:nvPr/>
        </p:nvSpPr>
        <p:spPr>
          <a:xfrm>
            <a:off x="6598904" y="2915157"/>
            <a:ext cx="91440" cy="91440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0072" y="2851150"/>
            <a:ext cx="4267184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Not partially — not at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87292"/>
            <a:ext cx="9905969" cy="5786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1">
                <a:solidFill>
                  <a:srgbClr val="101614"/>
                </a:solidFill>
                <a:latin typeface="Calibri"/>
              </a:rPr>
              <a:t>One test: could somebody we hire next month pick this up and use it, with nobody to call. It splits cleanly, and not where I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The proof is the thing you already named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77264"/>
            <a:ext cx="10637489" cy="1946148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1312"/>
            <a:ext cx="9174449" cy="1178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 i="0">
                <a:solidFill>
                  <a:srgbClr val="1E2A27"/>
                </a:solidFill>
                <a:latin typeface="Cambria"/>
              </a:rPr>
              <a:t>“The single best thing. Circulating through the booth, advertising for Juno, and the reason the Adria calls stopped being contentious.”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06292"/>
            <a:ext cx="106374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His words, not mine.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36644"/>
            <a:ext cx="3362949" cy="12644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4410964"/>
            <a:ext cx="118872" cy="11887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85284"/>
            <a:ext cx="2814309" cy="487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101614"/>
                </a:solidFill>
                <a:latin typeface="Calibri"/>
              </a:rPr>
              <a:t>It already 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509" y="4136644"/>
            <a:ext cx="3362949" cy="12644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8829" y="4410964"/>
            <a:ext cx="118872" cy="11887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8829" y="4685284"/>
            <a:ext cx="2814309" cy="487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101614"/>
                </a:solidFill>
                <a:latin typeface="Calibri"/>
              </a:rPr>
              <a:t>It already changed somebody's temperature.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779" y="4136644"/>
            <a:ext cx="3362949" cy="12644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6099" y="4410964"/>
            <a:ext cx="118872" cy="11887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6099" y="4685284"/>
            <a:ext cx="2814309" cy="487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101614"/>
                </a:solidFill>
                <a:latin typeface="Calibri"/>
              </a:rPr>
              <a:t>It is now packaged so a second person can run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And the second one is on screen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77264"/>
            <a:ext cx="3703320" cy="1021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B0754A"/>
                </a:solidFill>
                <a:latin typeface="Cambria"/>
              </a:rPr>
              <a:t>The morning dashboard you asked for on the drive is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09239"/>
            <a:ext cx="3703320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One place, every market, what moved.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21862"/>
            <a:ext cx="3703320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Every row is read from the record when the page is built. Nothing on it is typed.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64228"/>
            <a:ext cx="3703320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The client is not named anywhere on it — a screenshot forwards.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1">
                <a:solidFill>
                  <a:srgbClr val="1E2A27"/>
                </a:solidFill>
                <a:latin typeface="Calibri"/>
              </a:rPr>
              <a:t>I am going to open the real one 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1431544"/>
            <a:ext cx="6522689" cy="4252836"/>
          </a:xfrm>
          <a:prstGeom prst="roundRect">
            <a:avLst>
              <a:gd name="adj" fmla="val 2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ve_Morning-Boar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1477264"/>
            <a:ext cx="6431249" cy="4161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Your list, handed back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77264"/>
            <a:ext cx="990596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9443F"/>
                </a:solidFill>
                <a:latin typeface="Calibri"/>
              </a:rPr>
              <a:t>Ten things you committed to on the drives on 20 August. </a:t>
            </a:r>
            <a:r>
              <a:rPr sz="1700" b="1" i="0">
                <a:solidFill>
                  <a:srgbClr val="B0754A"/>
                </a:solidFill>
                <a:latin typeface="Calibri"/>
              </a:rPr>
              <a:t>Five now exist.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35632"/>
            <a:ext cx="118872" cy="118872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44192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1614"/>
                </a:solidFill>
                <a:latin typeface="Calibri"/>
              </a:rPr>
              <a:t>Your morning dashboard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56256"/>
            <a:ext cx="118872" cy="118872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464816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1614"/>
                </a:solidFill>
                <a:latin typeface="Calibri"/>
              </a:rPr>
              <a:t>The AI line for the Oracle proposal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76880"/>
            <a:ext cx="118872" cy="118872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885440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1614"/>
                </a:solidFill>
                <a:latin typeface="Calibri"/>
              </a:rPr>
              <a:t>Ask for the bigger number up front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97504"/>
            <a:ext cx="118872" cy="118872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06064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1614"/>
                </a:solidFill>
                <a:latin typeface="Calibri"/>
              </a:rPr>
              <a:t>Who absorbs the surprises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818128"/>
            <a:ext cx="118872" cy="118872"/>
          </a:xfrm>
          <a:prstGeom prst="ellipse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726688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1614"/>
                </a:solidFill>
                <a:latin typeface="Calibri"/>
              </a:rPr>
              <a:t>Eight validated, two flagged — the claim audit</a:t>
            </a:r>
          </a:p>
        </p:txBody>
      </p:sp>
      <p:sp>
        <p:nvSpPr>
          <p:cNvPr id="16" name="Oval 15"/>
          <p:cNvSpPr/>
          <p:nvPr/>
        </p:nvSpPr>
        <p:spPr>
          <a:xfrm>
            <a:off x="6370304" y="2135632"/>
            <a:ext cx="118872" cy="118872"/>
          </a:xfrm>
          <a:prstGeom prst="ellipse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2912" y="2044192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873"/>
                </a:solidFill>
                <a:latin typeface="Calibri"/>
              </a:rPr>
              <a:t>Speed as a priced deliverable</a:t>
            </a:r>
          </a:p>
        </p:txBody>
      </p:sp>
      <p:sp>
        <p:nvSpPr>
          <p:cNvPr id="18" name="Oval 17"/>
          <p:cNvSpPr/>
          <p:nvPr/>
        </p:nvSpPr>
        <p:spPr>
          <a:xfrm>
            <a:off x="6370304" y="2556256"/>
            <a:ext cx="118872" cy="118872"/>
          </a:xfrm>
          <a:prstGeom prst="ellipse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2912" y="2464816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873"/>
                </a:solidFill>
                <a:latin typeface="Calibri"/>
              </a:rPr>
              <a:t>Site community managers, early</a:t>
            </a:r>
          </a:p>
        </p:txBody>
      </p:sp>
      <p:sp>
        <p:nvSpPr>
          <p:cNvPr id="20" name="Oval 19"/>
          <p:cNvSpPr/>
          <p:nvPr/>
        </p:nvSpPr>
        <p:spPr>
          <a:xfrm>
            <a:off x="6370304" y="2976880"/>
            <a:ext cx="118872" cy="118872"/>
          </a:xfrm>
          <a:prstGeom prst="ellipse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912" y="2885440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873"/>
                </a:solidFill>
                <a:latin typeface="Calibri"/>
              </a:rPr>
              <a:t>The stakeholder-category list</a:t>
            </a:r>
          </a:p>
        </p:txBody>
      </p:sp>
      <p:sp>
        <p:nvSpPr>
          <p:cNvPr id="22" name="Oval 21"/>
          <p:cNvSpPr/>
          <p:nvPr/>
        </p:nvSpPr>
        <p:spPr>
          <a:xfrm>
            <a:off x="6370304" y="3397504"/>
            <a:ext cx="118872" cy="118872"/>
          </a:xfrm>
          <a:prstGeom prst="ellipse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2912" y="3306064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873"/>
                </a:solidFill>
                <a:latin typeface="Calibri"/>
              </a:rPr>
              <a:t>Researcher names, and how we find more</a:t>
            </a:r>
          </a:p>
        </p:txBody>
      </p:sp>
      <p:sp>
        <p:nvSpPr>
          <p:cNvPr id="24" name="Oval 23"/>
          <p:cNvSpPr/>
          <p:nvPr/>
        </p:nvSpPr>
        <p:spPr>
          <a:xfrm>
            <a:off x="6370304" y="3818128"/>
            <a:ext cx="118872" cy="118872"/>
          </a:xfrm>
          <a:prstGeom prst="ellipse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2912" y="3726688"/>
            <a:ext cx="4678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873"/>
                </a:solidFill>
                <a:latin typeface="Calibri"/>
              </a:rPr>
              <a:t>The educational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3344"/>
            <a:ext cx="990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I went back through the tapes rather than my memory. The timecodes are in the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What a new researcher gets on day one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77264"/>
            <a:ext cx="990596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9443F"/>
                </a:solidFill>
                <a:latin typeface="Calibri"/>
              </a:rPr>
              <a:t>Most of it already existed — it needed extracting rather than inventing.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07616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17928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Five blank instruments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509" y="2007616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0541" y="2217928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The interview guide, as a fill-in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1779" y="2007616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7811" y="2217928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The evidence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59151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069463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The citation grammar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4509" y="2859151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0541" y="3069463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Consent and compensation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779" y="2859151"/>
            <a:ext cx="3362949" cy="650367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7811" y="3069463"/>
            <a:ext cx="2860029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A reference set of finished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11853"/>
            <a:ext cx="106374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TWO THINGS ARE GENUINELY 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41037"/>
            <a:ext cx="5135864" cy="108635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42205"/>
            <a:ext cx="4587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A market scaffold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3102"/>
            <a:ext cx="4587224" cy="373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One command stands up a new market's folders, its empty registers and the checks, and tells you whether it is ready.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864" y="4241037"/>
            <a:ext cx="5135864" cy="108635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184" y="4442205"/>
            <a:ext cx="4587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The synthesis instruction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184" y="4753102"/>
            <a:ext cx="4587224" cy="373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It does not exist. I am writing it, and I would rather show you one worked example than describe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The bench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77264"/>
            <a:ext cx="10637489" cy="143992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" y="1843024"/>
            <a:ext cx="128016" cy="128016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7" y="1733296"/>
            <a:ext cx="9540209" cy="34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101614"/>
                </a:solidFill>
                <a:latin typeface="Cambria"/>
              </a:rPr>
              <a:t>Juno hires them. I certify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201672"/>
            <a:ext cx="9540209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You stay the employer of record and the commercial relationship. I stay on the standard rather than on payroll.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18358"/>
            <a:ext cx="10637489" cy="143992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" y="3484118"/>
            <a:ext cx="128016" cy="128016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3374390"/>
            <a:ext cx="9540209" cy="34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101614"/>
                </a:solidFill>
                <a:latin typeface="Cambria"/>
              </a:rPr>
              <a:t>Recruit tier one regionally.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3842765"/>
            <a:ext cx="9540209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Local fluency beats travel budget, and it is better for the work. A field journalist with diligence discipline — not an agency account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59452"/>
            <a:ext cx="10637489" cy="143992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5125212"/>
            <a:ext cx="128016" cy="128016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7" y="5015484"/>
            <a:ext cx="9540209" cy="34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101614"/>
                </a:solidFill>
                <a:latin typeface="Cambria"/>
              </a:rPr>
              <a:t>The first hard market stays the two of 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5483860"/>
            <a:ext cx="9540209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9443F"/>
                </a:solidFill>
                <a:latin typeface="Calibri"/>
              </a:rPr>
              <a:t>With somebody in the periphery watching and learning. A bench debuting in the hardest room we have had is a bad first outing for something we want to sell.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What it costs, and where the margin is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77264"/>
            <a:ext cx="990596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9443F"/>
                </a:solidFill>
                <a:latin typeface="Calibri"/>
              </a:rPr>
              <a:t>A per-market model rather than a rate card. Six lines, the budget model's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52752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5632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PLATFORM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8240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The instruments, the registers and the standards function; a band from the rate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509" y="1952752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8829" y="2135632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RETAINER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829" y="2428240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My standing time across the market; a band from the rate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779" y="1952752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6099" y="2135632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CERTIFIED-RESEARCHER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6099" y="2428240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Researcher days per phase, at a day cost you set; you employ the bench, so those days are yours.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99409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82289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FIELD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4896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The discovery and production visits, at a flat day rate from the rate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509" y="3399409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8829" y="3582289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THIRD-PARTY LINES, BY KIND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8829" y="3874896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Entered per market, never assumed.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1779" y="3399409"/>
            <a:ext cx="3362949" cy="130035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6099" y="3582289"/>
            <a:ext cx="28143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CONTINGENCY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6099" y="3874896"/>
            <a:ext cx="2814309" cy="660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A fixed share of the lines above.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19218"/>
            <a:ext cx="10637489" cy="880109"/>
          </a:xfrm>
          <a:prstGeom prst="roundRect">
            <a:avLst>
              <a:gd name="adj" fmla="val 35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129530"/>
            <a:ext cx="9540209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FBFAF8"/>
                </a:solidFill>
                <a:latin typeface="Calibri"/>
              </a:rPr>
              <a:t>The budget model prices one market at the level of its ten phases, in four moves, against what a sourced research pass runs at today. The point of it is that your margin per market goes up, not down.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No rate appears in this deck or in the plan. Those live in the private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The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77264"/>
            <a:ext cx="2453632" cy="26421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6720"/>
            <a:ext cx="19049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0" i="0">
                <a:solidFill>
                  <a:srgbClr val="B0754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53920"/>
            <a:ext cx="1904992" cy="459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1614"/>
                </a:solidFill>
                <a:latin typeface="Calibri"/>
              </a:rPr>
              <a:t>Now to the end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23134"/>
            <a:ext cx="1904992" cy="391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The kit gets blanked and dated. Nothing needs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5192" y="1477264"/>
            <a:ext cx="2453632" cy="26421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9512" y="1696720"/>
            <a:ext cx="19049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0" i="0">
                <a:solidFill>
                  <a:srgbClr val="B0754A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9512" y="2153920"/>
            <a:ext cx="1904992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1614"/>
                </a:solidFill>
                <a:latin typeface="Calibri"/>
              </a:rPr>
              <a:t>September is the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512" y="2493391"/>
            <a:ext cx="1904992" cy="1369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Three trips, and I will shadow one candidate researcher under real conditions while I am already there. That is the certification pilot and it costs nothing extra.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144" y="1477264"/>
            <a:ext cx="2453632" cy="26421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464" y="1696720"/>
            <a:ext cx="19049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0" i="0">
                <a:solidFill>
                  <a:srgbClr val="B0754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464" y="2153920"/>
            <a:ext cx="1904992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1614"/>
                </a:solidFill>
                <a:latin typeface="Calibri"/>
              </a:rPr>
              <a:t>Late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2493391"/>
            <a:ext cx="1904992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The scaffold and one worked synthesis example get built.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097" y="1477264"/>
            <a:ext cx="2453632" cy="26421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17" y="1696720"/>
            <a:ext cx="19049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0" i="0">
                <a:solidFill>
                  <a:srgbClr val="B0754A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17" y="2153920"/>
            <a:ext cx="1904992" cy="229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1614"/>
                </a:solidFill>
                <a:latin typeface="Calibri"/>
              </a:rPr>
              <a:t>Early October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17" y="2493391"/>
            <a:ext cx="1904992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One meeting. I will open with the dashboard on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85132"/>
            <a:ext cx="10637489" cy="1160780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759452"/>
            <a:ext cx="9631649" cy="374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 i="0">
                <a:solidFill>
                  <a:srgbClr val="1E2A27"/>
                </a:solidFill>
                <a:latin typeface="Cambria"/>
              </a:rPr>
              <a:t>Nothing here needs a reply from you to keep moving.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25288"/>
            <a:ext cx="963164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If you say nothing until October, all of it still happens.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Three open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11140409" y="84836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77264"/>
            <a:ext cx="990596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9443F"/>
                </a:solidFill>
                <a:latin typeface="Calibri"/>
              </a:rPr>
              <a:t>Each carries what I would do and what happens if we do nothing.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07616"/>
            <a:ext cx="3362949" cy="320205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5360"/>
            <a:ext cx="28143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01392"/>
            <a:ext cx="281430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101614"/>
                </a:solidFill>
                <a:latin typeface="Cambria"/>
              </a:rPr>
              <a:t>What is Juno's actual margin per market?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7136"/>
            <a:ext cx="2814309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What I'd do.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Give me a range rather than a number, and I will build the model against the bottom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80561"/>
            <a:ext cx="2814309" cy="1174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6B7873"/>
                </a:solidFill>
                <a:latin typeface="Calibri"/>
              </a:rPr>
              <a:t>If we don't decide.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I price against my own estimate, and we find out in October whether it eats your margin — which is the version where you quietly stop using the apparatus and neither of us says 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509" y="2007616"/>
            <a:ext cx="3362949" cy="320205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8829" y="2245360"/>
            <a:ext cx="28143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829" y="2501392"/>
            <a:ext cx="2814309" cy="81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101614"/>
                </a:solidFill>
                <a:latin typeface="Cambria"/>
              </a:rPr>
              <a:t>Which market does the bench debut in, and how far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829" y="3519424"/>
            <a:ext cx="2814309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What I'd do.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Debut them somewhere forgiving, apprenticing, and keep the hard market 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829" y="4252849"/>
            <a:ext cx="2814309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6B7873"/>
                </a:solidFill>
                <a:latin typeface="Calibri"/>
              </a:rPr>
              <a:t>If we don't decide.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We default to apprentice-only, which is the safe version and slower.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779" y="2007616"/>
            <a:ext cx="3362949" cy="320205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6099" y="2245360"/>
            <a:ext cx="28143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6099" y="2501392"/>
            <a:ext cx="2814309" cy="272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101614"/>
                </a:solidFill>
                <a:latin typeface="Cambria"/>
              </a:rPr>
              <a:t>The name.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6099" y="2974848"/>
            <a:ext cx="2814309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What I'd do.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Leave it open until October and decide it with the positioning rather than before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6099" y="3708273"/>
            <a:ext cx="2814309" cy="587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6B7873"/>
                </a:solidFill>
                <a:latin typeface="Calibri"/>
              </a:rPr>
              <a:t>If we don't decide. </a:t>
            </a:r>
            <a:r>
              <a:rPr sz="1150" b="0" i="0">
                <a:solidFill>
                  <a:srgbClr val="39443F"/>
                </a:solidFill>
                <a:latin typeface="Calibri"/>
              </a:rPr>
              <a:t>It stays Groundwork by inertia, which is how names get decided badly.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0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BC80"/>
                </a:solidFill>
                <a:latin typeface="Calibri"/>
              </a:rPr>
              <a:t>WHERE I WANT YOUR REDRAFT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57984"/>
            <a:ext cx="9265889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0" i="0">
                <a:solidFill>
                  <a:srgbClr val="FBFAF8"/>
                </a:solidFill>
                <a:latin typeface="Cambria"/>
              </a:rPr>
              <a:t>Section six — the economics.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149600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51935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C6D2CB"/>
                </a:solidFill>
                <a:latin typeface="Calibri"/>
              </a:rPr>
              <a:t>You did this with the interview guide in July and it came back better. You know what you can carry into a room and I am guessing at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Groundwork</dc:creator>
  <cp:keywords/>
  <dc:description/>
  <cp:lastModifiedBy>Groundwork</cp:lastModifiedBy>
  <cp:revision>1</cp:revision>
  <dcterms:created xsi:type="dcterms:W3CDTF">2013-01-27T09:14:16Z</dcterms:created>
  <dcterms:modified xsi:type="dcterms:W3CDTF">2013-01-27T09:15:58Z</dcterms:modified>
  <cp:category/>
</cp:coreProperties>
</file>